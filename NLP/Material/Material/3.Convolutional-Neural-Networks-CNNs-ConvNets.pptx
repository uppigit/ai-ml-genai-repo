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86" r:id="rId4"/>
    <p:sldId id="287" r:id="rId5"/>
    <p:sldId id="289" r:id="rId6"/>
    <p:sldId id="288" r:id="rId7"/>
    <p:sldId id="290" r:id="rId8"/>
    <p:sldId id="291" r:id="rId9"/>
    <p:sldId id="302" r:id="rId10"/>
    <p:sldId id="303" r:id="rId11"/>
    <p:sldId id="304" r:id="rId12"/>
    <p:sldId id="298" r:id="rId13"/>
    <p:sldId id="305" r:id="rId14"/>
    <p:sldId id="306" r:id="rId15"/>
    <p:sldId id="292" r:id="rId16"/>
    <p:sldId id="293" r:id="rId17"/>
    <p:sldId id="297" r:id="rId18"/>
    <p:sldId id="299" r:id="rId19"/>
    <p:sldId id="300" r:id="rId20"/>
    <p:sldId id="294" r:id="rId21"/>
    <p:sldId id="301" r:id="rId22"/>
    <p:sldId id="307" r:id="rId23"/>
    <p:sldId id="283" r:id="rId2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-20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9239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654" y="2684740"/>
            <a:ext cx="4930973" cy="2860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597" y="1266944"/>
            <a:ext cx="7588806" cy="2874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Convolutional Neural </a:t>
            </a:r>
            <a:r>
              <a:rPr lang="en-US" sz="6036" dirty="0" smtClean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Networks</a:t>
            </a:r>
            <a:endParaRPr lang="en-US" sz="6036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1624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62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3" y="3466981"/>
            <a:ext cx="4943475" cy="12976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46257" y="597098"/>
            <a:ext cx="5428298" cy="6784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43"/>
              </a:lnSpc>
              <a:buNone/>
            </a:pPr>
            <a:r>
              <a:rPr lang="en-US" sz="42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Types</a:t>
            </a:r>
            <a:endParaRPr lang="en-US" sz="4274" dirty="0"/>
          </a:p>
        </p:txBody>
      </p:sp>
      <p:sp>
        <p:nvSpPr>
          <p:cNvPr id="8" name="Text 3"/>
          <p:cNvSpPr/>
          <p:nvPr/>
        </p:nvSpPr>
        <p:spPr>
          <a:xfrm>
            <a:off x="6246257" y="2361009"/>
            <a:ext cx="2714149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71"/>
              </a:lnSpc>
              <a:buNone/>
            </a:pPr>
            <a:r>
              <a:rPr lang="en-US" sz="21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Convolutional Layer</a:t>
            </a:r>
            <a:endParaRPr lang="en-US" sz="2137" dirty="0"/>
          </a:p>
        </p:txBody>
      </p:sp>
      <p:sp>
        <p:nvSpPr>
          <p:cNvPr id="9" name="Text 4"/>
          <p:cNvSpPr/>
          <p:nvPr/>
        </p:nvSpPr>
        <p:spPr>
          <a:xfrm>
            <a:off x="6246257" y="2830592"/>
            <a:ext cx="7624286" cy="347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171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convolution operation to input</a:t>
            </a:r>
            <a:endParaRPr lang="en-US" sz="1710" dirty="0"/>
          </a:p>
        </p:txBody>
      </p:sp>
      <p:sp>
        <p:nvSpPr>
          <p:cNvPr id="11" name="Text 5"/>
          <p:cNvSpPr/>
          <p:nvPr/>
        </p:nvSpPr>
        <p:spPr>
          <a:xfrm>
            <a:off x="6246257" y="4589264"/>
            <a:ext cx="2714149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71"/>
              </a:lnSpc>
              <a:buNone/>
            </a:pPr>
            <a:r>
              <a:rPr lang="en-US" sz="21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Pooling Layer</a:t>
            </a:r>
            <a:endParaRPr lang="en-US" sz="2137" dirty="0"/>
          </a:p>
        </p:txBody>
      </p:sp>
      <p:sp>
        <p:nvSpPr>
          <p:cNvPr id="12" name="Text 6"/>
          <p:cNvSpPr/>
          <p:nvPr/>
        </p:nvSpPr>
        <p:spPr>
          <a:xfrm>
            <a:off x="6246257" y="5058847"/>
            <a:ext cx="7624286" cy="347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171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Downsamples spatial dimensions</a:t>
            </a:r>
            <a:endParaRPr lang="en-US" sz="1710" dirty="0"/>
          </a:p>
        </p:txBody>
      </p:sp>
      <p:sp>
        <p:nvSpPr>
          <p:cNvPr id="14" name="Text 7"/>
          <p:cNvSpPr/>
          <p:nvPr/>
        </p:nvSpPr>
        <p:spPr>
          <a:xfrm>
            <a:off x="6246257" y="6817519"/>
            <a:ext cx="2869525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71"/>
              </a:lnSpc>
              <a:buNone/>
            </a:pPr>
            <a:r>
              <a:rPr lang="en-US" sz="21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Fully-Connected Layer</a:t>
            </a:r>
            <a:endParaRPr lang="en-US" sz="2137" dirty="0"/>
          </a:p>
        </p:txBody>
      </p:sp>
      <p:sp>
        <p:nvSpPr>
          <p:cNvPr id="15" name="Text 8"/>
          <p:cNvSpPr/>
          <p:nvPr/>
        </p:nvSpPr>
        <p:spPr>
          <a:xfrm>
            <a:off x="6246257" y="7287101"/>
            <a:ext cx="7624286" cy="347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171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 all neurons to previous layer</a:t>
            </a:r>
            <a:endParaRPr lang="en-US" sz="171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68" y="4114799"/>
            <a:ext cx="7230484" cy="33723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6707" y="410235"/>
            <a:ext cx="5989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Image Storage</a:t>
            </a:r>
            <a:endParaRPr 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057" y="1375172"/>
            <a:ext cx="7306695" cy="2181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42" y="728445"/>
            <a:ext cx="6677957" cy="31151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6707" y="410235"/>
            <a:ext cx="5989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Image Storage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20527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89" y="1832256"/>
            <a:ext cx="8040222" cy="5068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3260" y="788670"/>
            <a:ext cx="8812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How does human recognize Numbers/Alphabets</a:t>
            </a:r>
            <a:endParaRPr 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1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247" y="1990428"/>
            <a:ext cx="7563906" cy="42487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3260" y="788670"/>
            <a:ext cx="8812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How does human recognize images</a:t>
            </a:r>
            <a:endParaRPr lang="en-IN" sz="3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6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393" y="2485941"/>
            <a:ext cx="6083613" cy="32577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3260" y="788670"/>
            <a:ext cx="8812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How to make computers to learn?</a:t>
            </a:r>
            <a:endParaRPr lang="en-IN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5890075" y="6030575"/>
            <a:ext cx="1935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Filters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1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440" y="1807540"/>
            <a:ext cx="8668960" cy="43630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26440" y="537210"/>
            <a:ext cx="654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Feature map</a:t>
            </a:r>
            <a:endParaRPr 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0" y="6423660"/>
            <a:ext cx="1245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32 x32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0447020" y="5920740"/>
            <a:ext cx="1202660" cy="375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 x 5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886200" y="2606040"/>
            <a:ext cx="1851660" cy="2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37860" y="2617470"/>
            <a:ext cx="0" cy="1474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886200" y="2628900"/>
            <a:ext cx="0" cy="1463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886200" y="4091940"/>
            <a:ext cx="1943100" cy="102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63440" y="2857500"/>
            <a:ext cx="1714500" cy="34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663440" y="2891790"/>
            <a:ext cx="0" cy="1200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297930" y="2891790"/>
            <a:ext cx="80010" cy="1303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663440" y="4091940"/>
            <a:ext cx="171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223260" y="3429000"/>
            <a:ext cx="1668780" cy="2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463290" y="3337560"/>
            <a:ext cx="0" cy="1017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892040" y="3440430"/>
            <a:ext cx="0" cy="1040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463290" y="4194810"/>
            <a:ext cx="1428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73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7" y="1002709"/>
            <a:ext cx="6058746" cy="39153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0" y="765810"/>
            <a:ext cx="3909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1+1+1+1+1+1+1+1+1</a:t>
            </a:r>
            <a:endParaRPr lang="en-IN" sz="2800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805940" y="1565910"/>
            <a:ext cx="3429000" cy="902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234940" y="1002709"/>
            <a:ext cx="1988820" cy="14661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885950" y="2057400"/>
            <a:ext cx="334899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314950" y="1002709"/>
            <a:ext cx="3040380" cy="1969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60" y="3858321"/>
            <a:ext cx="8516539" cy="36676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3833" y="192465"/>
            <a:ext cx="42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Stride of 1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8325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62" y="4432697"/>
            <a:ext cx="8211696" cy="34104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30749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756" y="2350390"/>
            <a:ext cx="3242464" cy="3997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1970" y="1394460"/>
            <a:ext cx="45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Final one is Feature map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0423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690" y="2319086"/>
            <a:ext cx="10966403" cy="41960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11630" y="994410"/>
            <a:ext cx="811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 smtClean="0">
                <a:solidFill>
                  <a:schemeClr val="bg1"/>
                </a:solidFill>
              </a:rPr>
              <a:t>ReLU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8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274" y="1481917"/>
            <a:ext cx="8897592" cy="2476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99" y="4150826"/>
            <a:ext cx="4096322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5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878" y="2552482"/>
            <a:ext cx="783064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8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725930"/>
            <a:ext cx="10675619" cy="5859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9060" y="411480"/>
            <a:ext cx="6766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Feature Map</a:t>
            </a:r>
            <a:endParaRPr 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5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739" y="746665"/>
            <a:ext cx="7703661" cy="64656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6" y="643794"/>
            <a:ext cx="5912623" cy="40627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87" y="4720590"/>
            <a:ext cx="7479724" cy="29032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251460"/>
            <a:ext cx="6766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Feature Map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06372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77740" y="1291590"/>
            <a:ext cx="5772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Pooling Layer</a:t>
            </a:r>
            <a:endParaRPr lang="en-IN" sz="3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006" y="2643842"/>
            <a:ext cx="750674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9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91" y="2319087"/>
            <a:ext cx="7792537" cy="35914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00550" y="1131570"/>
            <a:ext cx="5177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For Number 9</a:t>
            </a:r>
            <a:endParaRPr lang="en-IN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154930" y="6305788"/>
            <a:ext cx="497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2x2 with 1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646170" y="2857500"/>
            <a:ext cx="1851660" cy="1143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686300" y="2857500"/>
            <a:ext cx="1600200" cy="1143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Elbow Connector 11"/>
          <p:cNvCxnSpPr/>
          <p:nvPr/>
        </p:nvCxnSpPr>
        <p:spPr>
          <a:xfrm>
            <a:off x="4000500" y="2971800"/>
            <a:ext cx="5063490" cy="5029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760720" y="3474720"/>
            <a:ext cx="4366260" cy="422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0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272" y="2566771"/>
            <a:ext cx="9173855" cy="30960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46370" y="948690"/>
            <a:ext cx="5463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All put Together</a:t>
            </a:r>
            <a:endParaRPr 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2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54" y="1690349"/>
            <a:ext cx="5134692" cy="48489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69030" y="640080"/>
            <a:ext cx="6213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Flatten</a:t>
            </a:r>
            <a:endParaRPr lang="en-IN" sz="3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4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469" y="1490749"/>
            <a:ext cx="9545382" cy="413442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15100" y="810128"/>
            <a:ext cx="5795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CNN</a:t>
            </a:r>
            <a:endParaRPr lang="en-IN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423160" y="5234940"/>
            <a:ext cx="600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Feature Mapping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9212580" y="5349240"/>
            <a:ext cx="226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Classification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947" y="456376"/>
            <a:ext cx="1543427" cy="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6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88670" y="2613636"/>
            <a:ext cx="1259586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28×28grayscale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multiple filters (e.g., 3×3) to extract features → Get feature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Pooling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Downsample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feature maps using max pooling → Smaller feature maps with key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the process as needed (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Pool →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Pool). </a:t>
            </a:r>
          </a:p>
        </p:txBody>
      </p:sp>
    </p:spTree>
    <p:extLst>
      <p:ext uri="{BB962C8B-B14F-4D97-AF65-F5344CB8AC3E}">
        <p14:creationId xmlns:p14="http://schemas.microsoft.com/office/powerpoint/2010/main" val="6653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590" y="0"/>
            <a:ext cx="533781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605326"/>
            <a:ext cx="4869061" cy="30188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060" y="629240"/>
            <a:ext cx="6742629" cy="1629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3200" b="1" dirty="0">
                <a:solidFill>
                  <a:srgbClr val="1B1B27"/>
                </a:solidFill>
                <a:ea typeface="Raleway" pitchFamily="34" charset="-122"/>
                <a:cs typeface="Raleway" pitchFamily="34" charset="-120"/>
              </a:rPr>
              <a:t>CNN Implementations</a:t>
            </a:r>
            <a:endParaRPr lang="en-US" sz="3200" b="1" dirty="0"/>
          </a:p>
        </p:txBody>
      </p:sp>
      <p:sp>
        <p:nvSpPr>
          <p:cNvPr id="9" name="Text 5"/>
          <p:cNvSpPr/>
          <p:nvPr/>
        </p:nvSpPr>
        <p:spPr>
          <a:xfrm>
            <a:off x="851271" y="1662938"/>
            <a:ext cx="3272459" cy="8147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TensorFlow</a:t>
            </a:r>
            <a:endParaRPr lang="en-US" sz="2000" b="1" dirty="0"/>
          </a:p>
        </p:txBody>
      </p:sp>
      <p:sp>
        <p:nvSpPr>
          <p:cNvPr id="10" name="Text 6"/>
          <p:cNvSpPr/>
          <p:nvPr/>
        </p:nvSpPr>
        <p:spPr>
          <a:xfrm>
            <a:off x="1266902" y="2060379"/>
            <a:ext cx="7786330" cy="121146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just">
              <a:lnSpc>
                <a:spcPts val="3110"/>
              </a:lnSpc>
            </a:pPr>
            <a:r>
              <a:rPr lang="en-US" sz="20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Open-source library developed by </a:t>
            </a:r>
            <a:r>
              <a:rPr lang="en-US" sz="2000" dirty="0" smtClean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Google. It is </a:t>
            </a:r>
            <a:r>
              <a:rPr lang="en-US" sz="2000" dirty="0" smtClean="0"/>
              <a:t>one </a:t>
            </a:r>
            <a:r>
              <a:rPr lang="en-US" sz="2000" dirty="0"/>
              <a:t>of the </a:t>
            </a:r>
            <a:r>
              <a:rPr lang="en-US" sz="2000" dirty="0" smtClean="0"/>
              <a:t>most</a:t>
            </a:r>
          </a:p>
          <a:p>
            <a:pPr>
              <a:lnSpc>
                <a:spcPts val="3110"/>
              </a:lnSpc>
            </a:pPr>
            <a:r>
              <a:rPr lang="en-US" sz="2000" dirty="0" smtClean="0"/>
              <a:t>widely </a:t>
            </a:r>
            <a:r>
              <a:rPr lang="en-US" sz="2000" dirty="0"/>
              <a:t>used libraries for building and deploying machine learning models.</a:t>
            </a:r>
          </a:p>
        </p:txBody>
      </p:sp>
      <p:sp>
        <p:nvSpPr>
          <p:cNvPr id="13" name="Text 9"/>
          <p:cNvSpPr/>
          <p:nvPr/>
        </p:nvSpPr>
        <p:spPr>
          <a:xfrm>
            <a:off x="954141" y="3028113"/>
            <a:ext cx="3272459" cy="8147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PyTorch</a:t>
            </a:r>
            <a:endParaRPr lang="en-US" sz="2000" b="1" dirty="0"/>
          </a:p>
        </p:txBody>
      </p:sp>
      <p:sp>
        <p:nvSpPr>
          <p:cNvPr id="14" name="Text 10"/>
          <p:cNvSpPr/>
          <p:nvPr/>
        </p:nvSpPr>
        <p:spPr>
          <a:xfrm>
            <a:off x="1367051" y="3467054"/>
            <a:ext cx="6770657" cy="24128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3110"/>
              </a:lnSpc>
            </a:pPr>
            <a:r>
              <a:rPr lang="en-US" sz="2000" dirty="0"/>
              <a:t>Facebook's AI Research lab (FAIR), which is particularly </a:t>
            </a:r>
            <a:r>
              <a:rPr lang="en-US" sz="2000" dirty="0" smtClean="0"/>
              <a:t>useful</a:t>
            </a:r>
          </a:p>
          <a:p>
            <a:pPr>
              <a:lnSpc>
                <a:spcPts val="3110"/>
              </a:lnSpc>
            </a:pPr>
            <a:r>
              <a:rPr lang="en-US" sz="2000" dirty="0" smtClean="0"/>
              <a:t> </a:t>
            </a:r>
            <a:r>
              <a:rPr lang="en-US" sz="2000" dirty="0"/>
              <a:t>for research and development in deep learning.</a:t>
            </a:r>
          </a:p>
        </p:txBody>
      </p:sp>
      <p:sp>
        <p:nvSpPr>
          <p:cNvPr id="17" name="Text 13"/>
          <p:cNvSpPr/>
          <p:nvPr/>
        </p:nvSpPr>
        <p:spPr>
          <a:xfrm>
            <a:off x="954141" y="4481509"/>
            <a:ext cx="3272459" cy="8147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Keras</a:t>
            </a:r>
            <a:endParaRPr lang="en-US" sz="2000" b="1" dirty="0"/>
          </a:p>
        </p:txBody>
      </p:sp>
      <p:sp>
        <p:nvSpPr>
          <p:cNvPr id="18" name="Text 14"/>
          <p:cNvSpPr/>
          <p:nvPr/>
        </p:nvSpPr>
        <p:spPr>
          <a:xfrm>
            <a:off x="1266902" y="5908029"/>
            <a:ext cx="7013062" cy="83436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2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857" y="629239"/>
            <a:ext cx="1543427" cy="36577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66902" y="5183565"/>
            <a:ext cx="77569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Keras</a:t>
            </a:r>
            <a:r>
              <a:rPr lang="en-US" sz="2000" dirty="0"/>
              <a:t> was </a:t>
            </a:r>
            <a:r>
              <a:rPr lang="en-US" sz="2000" dirty="0" smtClean="0"/>
              <a:t>developed </a:t>
            </a:r>
            <a:r>
              <a:rPr lang="en-US" sz="2000" dirty="0"/>
              <a:t>by François </a:t>
            </a:r>
            <a:r>
              <a:rPr lang="en-US" sz="2000" dirty="0" err="1"/>
              <a:t>Chollet</a:t>
            </a:r>
            <a:r>
              <a:rPr lang="en-US" sz="2000" dirty="0"/>
              <a:t>, a researcher at Google. </a:t>
            </a:r>
            <a:r>
              <a:rPr lang="en-US" sz="2000" dirty="0" err="1" smtClean="0"/>
              <a:t>Keras</a:t>
            </a:r>
            <a:r>
              <a:rPr lang="en-US" sz="2000" dirty="0" smtClean="0"/>
              <a:t> </a:t>
            </a:r>
            <a:r>
              <a:rPr lang="en-US" sz="2000" dirty="0"/>
              <a:t>is an open-source neural network library written in Python that acts as an interface for the </a:t>
            </a:r>
            <a:r>
              <a:rPr lang="en-US" sz="2000" dirty="0" err="1"/>
              <a:t>TensorFlow</a:t>
            </a:r>
            <a:r>
              <a:rPr lang="en-US" sz="2000" dirty="0"/>
              <a:t> library (among others). 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4772</TotalTime>
  <Words>225</Words>
  <Application>Microsoft Office PowerPoint</Application>
  <PresentationFormat>Custom</PresentationFormat>
  <Paragraphs>47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Murthy</cp:lastModifiedBy>
  <cp:revision>33</cp:revision>
  <dcterms:created xsi:type="dcterms:W3CDTF">2024-07-31T13:28:14Z</dcterms:created>
  <dcterms:modified xsi:type="dcterms:W3CDTF">2025-03-08T15:37:53Z</dcterms:modified>
</cp:coreProperties>
</file>