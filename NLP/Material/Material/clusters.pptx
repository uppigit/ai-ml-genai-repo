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76" r:id="rId3"/>
    <p:sldId id="263" r:id="rId4"/>
    <p:sldId id="264" r:id="rId5"/>
    <p:sldId id="257" r:id="rId6"/>
    <p:sldId id="265" r:id="rId7"/>
    <p:sldId id="268" r:id="rId8"/>
    <p:sldId id="269" r:id="rId9"/>
    <p:sldId id="270" r:id="rId10"/>
    <p:sldId id="266" r:id="rId11"/>
    <p:sldId id="271" r:id="rId12"/>
    <p:sldId id="272" r:id="rId13"/>
    <p:sldId id="267" r:id="rId14"/>
    <p:sldId id="273" r:id="rId15"/>
    <p:sldId id="274" r:id="rId16"/>
    <p:sldId id="275" r:id="rId17"/>
    <p:sldId id="258" r:id="rId18"/>
    <p:sldId id="259" r:id="rId19"/>
    <p:sldId id="260" r:id="rId20"/>
    <p:sldId id="261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88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is a Cluster?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392160" cy="385572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b="1" dirty="0"/>
              <a:t>cluster</a:t>
            </a:r>
            <a:r>
              <a:rPr lang="en-US" dirty="0"/>
              <a:t> is a group of similar data points grouped together based on a similarity measure (such as distance). The goal of clustering is to find patterns or structures in data without predefined labels.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7210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610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 is Clustering an </a:t>
            </a:r>
            <a:r>
              <a:rPr lang="en-US" b="1" dirty="0" smtClean="0"/>
              <a:t>Unsupervised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Clustering </a:t>
            </a:r>
            <a:r>
              <a:rPr lang="en-US" dirty="0"/>
              <a:t>is unsupervised because it groups data based on inherent </a:t>
            </a:r>
            <a:r>
              <a:rPr lang="en-US" dirty="0" smtClean="0"/>
              <a:t>structures.</a:t>
            </a:r>
          </a:p>
          <a:p>
            <a:r>
              <a:rPr lang="en-US" dirty="0" smtClean="0"/>
              <a:t>Distance-based </a:t>
            </a:r>
            <a:r>
              <a:rPr lang="en-US" dirty="0"/>
              <a:t>methods use </a:t>
            </a:r>
            <a:r>
              <a:rPr lang="en-US" b="1" dirty="0"/>
              <a:t>Euclidean, Manhattan, or Cosine similarity</a:t>
            </a:r>
            <a:r>
              <a:rPr lang="en-US" dirty="0"/>
              <a:t>.</a:t>
            </a:r>
          </a:p>
          <a:p>
            <a:r>
              <a:rPr lang="en-US" dirty="0"/>
              <a:t>Density-based methods focus on </a:t>
            </a:r>
            <a:r>
              <a:rPr lang="en-US" b="1" dirty="0"/>
              <a:t>neighbor density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8853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Methods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1417638"/>
            <a:ext cx="8696960" cy="5145722"/>
          </a:xfrm>
        </p:spPr>
        <p:txBody>
          <a:bodyPr>
            <a:normAutofit/>
          </a:bodyPr>
          <a:lstStyle/>
          <a:p>
            <a:r>
              <a:rPr lang="en-IN" b="1" dirty="0"/>
              <a:t>Distance-Based </a:t>
            </a:r>
            <a:r>
              <a:rPr lang="en-IN" b="1" dirty="0" smtClean="0"/>
              <a:t>Methods: </a:t>
            </a:r>
            <a:r>
              <a:rPr lang="en-IN" dirty="0" smtClean="0"/>
              <a:t>It measure </a:t>
            </a:r>
            <a:r>
              <a:rPr lang="en-IN" dirty="0"/>
              <a:t>similarity using distance metrics like Euclidean, Manhattan, or </a:t>
            </a:r>
            <a:r>
              <a:rPr lang="en-IN" dirty="0" smtClean="0"/>
              <a:t>Cosine.</a:t>
            </a:r>
            <a:endParaRPr lang="en-IN" dirty="0"/>
          </a:p>
          <a:p>
            <a:pPr marL="857250" lvl="1" indent="-457200"/>
            <a:r>
              <a:rPr lang="en-IN" dirty="0"/>
              <a:t>	</a:t>
            </a:r>
            <a:r>
              <a:rPr lang="en-IN" dirty="0" smtClean="0"/>
              <a:t>K-Means Clustering </a:t>
            </a:r>
          </a:p>
          <a:p>
            <a:pPr marL="857250" lvl="1" indent="-457200"/>
            <a:r>
              <a:rPr lang="en-IN" dirty="0" smtClean="0"/>
              <a:t>Agglomerative </a:t>
            </a:r>
            <a:r>
              <a:rPr lang="en-IN" dirty="0"/>
              <a:t>Clustering </a:t>
            </a:r>
          </a:p>
          <a:p>
            <a:r>
              <a:rPr lang="en-IN" b="1" dirty="0"/>
              <a:t>Density-Based </a:t>
            </a:r>
            <a:r>
              <a:rPr lang="en-IN" b="1" dirty="0" smtClean="0"/>
              <a:t>Methods: </a:t>
            </a:r>
            <a:r>
              <a:rPr lang="en-IN" dirty="0" smtClean="0"/>
              <a:t>It measure </a:t>
            </a:r>
            <a:r>
              <a:rPr lang="en-IN" dirty="0"/>
              <a:t>similarity based on </a:t>
            </a:r>
            <a:r>
              <a:rPr lang="en-IN" dirty="0" smtClean="0"/>
              <a:t>neighbour density.</a:t>
            </a:r>
            <a:endParaRPr lang="en-IN" dirty="0"/>
          </a:p>
          <a:p>
            <a:pPr marL="857250" lvl="1" indent="-457200"/>
            <a:r>
              <a:rPr lang="en-IN" dirty="0"/>
              <a:t>	D</a:t>
            </a:r>
            <a:r>
              <a:rPr lang="en-IN" dirty="0" smtClean="0"/>
              <a:t>BSCAN </a:t>
            </a:r>
            <a:r>
              <a:rPr lang="en-I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8544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Anomaly and PCA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Anomaly detection algorithm based on decision trees</a:t>
            </a:r>
            <a:r>
              <a:rPr dirty="0" smtClean="0"/>
              <a:t>. </a:t>
            </a:r>
            <a:r>
              <a:rPr lang="en-IN" dirty="0" smtClean="0"/>
              <a:t>It </a:t>
            </a:r>
            <a:r>
              <a:rPr lang="en-IN" dirty="0"/>
              <a:t>w</a:t>
            </a:r>
            <a:r>
              <a:rPr dirty="0" err="1" smtClean="0"/>
              <a:t>orks</a:t>
            </a:r>
            <a:r>
              <a:rPr dirty="0" smtClean="0"/>
              <a:t> by isolating outliers in a dataset.</a:t>
            </a:r>
            <a:endParaRPr lang="en-IN" dirty="0" smtClean="0"/>
          </a:p>
          <a:p>
            <a:r>
              <a:rPr lang="en-US" b="1" dirty="0"/>
              <a:t>Dimensionality Reduction for Clustering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 smtClean="0"/>
              <a:t>PCA</a:t>
            </a:r>
            <a:r>
              <a:rPr lang="en-US" dirty="0" smtClean="0"/>
              <a:t> :Transforms </a:t>
            </a:r>
            <a:r>
              <a:rPr lang="en-US" dirty="0"/>
              <a:t>data into lower </a:t>
            </a:r>
            <a:r>
              <a:rPr lang="en-US" dirty="0" smtClean="0"/>
              <a:t>dimensions.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en-US" sz="3200" b="1" dirty="0"/>
              <a:t>K-Means Clustering</a:t>
            </a:r>
            <a:br>
              <a:rPr lang="en-US" altLang="en-US" sz="3200" b="1" dirty="0"/>
            </a:br>
            <a:endParaRPr lang="en-IN" sz="3200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14960" y="1032378"/>
            <a:ext cx="8371840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Randomly selects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centroids.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Assigns each data point to the nearest centroid (using Euclidean distance).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Updates centroids as the mean of assigned points.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Repeats until centroids stabilize (convergence).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Similarity Measure: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Euclidean distance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group data points around centroids.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Assumes clusters are spherical and equal in size.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283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'K'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the Elbow Method to determine optimal K.</a:t>
            </a:r>
          </a:p>
          <a:p>
            <a:r>
              <a:t>• Silhouette Score helps evaluate cluster quality.</a:t>
            </a:r>
          </a:p>
        </p:txBody>
      </p:sp>
    </p:spTree>
    <p:extLst>
      <p:ext uri="{BB962C8B-B14F-4D97-AF65-F5344CB8AC3E}">
        <p14:creationId xmlns:p14="http://schemas.microsoft.com/office/powerpoint/2010/main" val="2813892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Simple and efficient.</a:t>
            </a:r>
          </a:p>
          <a:p>
            <a:r>
              <a:t>✔ Works well with large datasets.</a:t>
            </a:r>
          </a:p>
          <a:p>
            <a:r>
              <a:t>✖ Sensitive to outliers.</a:t>
            </a:r>
          </a:p>
          <a:p>
            <a:r>
              <a:t>✖ Choosing the right K is tricky.</a:t>
            </a:r>
          </a:p>
        </p:txBody>
      </p:sp>
    </p:spTree>
    <p:extLst>
      <p:ext uri="{BB962C8B-B14F-4D97-AF65-F5344CB8AC3E}">
        <p14:creationId xmlns:p14="http://schemas.microsoft.com/office/powerpoint/2010/main" val="1797748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sklearn.cluster import KMeans</a:t>
            </a:r>
          </a:p>
          <a:p>
            <a:r>
              <a:t>kmeans = KMeans(n_clusters=3)</a:t>
            </a:r>
          </a:p>
          <a:p>
            <a:r>
              <a:t>kmeans.fit(X)</a:t>
            </a:r>
          </a:p>
          <a:p>
            <a:r>
              <a:t>labels = kmeans.predict(X)</a:t>
            </a:r>
          </a:p>
        </p:txBody>
      </p:sp>
    </p:spTree>
    <p:extLst>
      <p:ext uri="{BB962C8B-B14F-4D97-AF65-F5344CB8AC3E}">
        <p14:creationId xmlns:p14="http://schemas.microsoft.com/office/powerpoint/2010/main" val="155980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Agglomerative </a:t>
            </a:r>
            <a:r>
              <a:rPr lang="en-US" b="1" dirty="0" smtClean="0"/>
              <a:t>Clustering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Process</a:t>
            </a:r>
            <a:r>
              <a:rPr lang="en-US" b="1" dirty="0"/>
              <a:t>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Each data point starts as its own cluster.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Merges the two closest clusters iteratively based on linkage criteria: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b="1" dirty="0"/>
              <a:t>Single Linkage</a:t>
            </a:r>
            <a:r>
              <a:rPr lang="en-US" dirty="0"/>
              <a:t>: Closest point between clusters.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b="1" dirty="0"/>
              <a:t>Complete Linkage</a:t>
            </a:r>
            <a:r>
              <a:rPr lang="en-US" dirty="0"/>
              <a:t>: Farthest point between clusters.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b="1" dirty="0"/>
              <a:t>Average Linkage</a:t>
            </a:r>
            <a:r>
              <a:rPr lang="en-US" dirty="0"/>
              <a:t>: Mean distance between clusters.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Continues until only one large cluster remains.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Similarity Measure:</a:t>
            </a:r>
            <a:r>
              <a:rPr lang="en-US" dirty="0"/>
              <a:t> Uses </a:t>
            </a:r>
            <a:r>
              <a:rPr lang="en-US" b="1" dirty="0"/>
              <a:t>linkage distance</a:t>
            </a:r>
            <a:r>
              <a:rPr lang="en-US" dirty="0"/>
              <a:t> (not centroids) to decide merging.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Feature:</a:t>
            </a:r>
            <a:r>
              <a:rPr lang="en-US" dirty="0"/>
              <a:t> No need to specify the number of clusters beforehand.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296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No need to specify 'K'.</a:t>
            </a:r>
          </a:p>
          <a:p>
            <a:r>
              <a:t>✔ Suitable for hierarchical relationships.</a:t>
            </a:r>
          </a:p>
          <a:p>
            <a:r>
              <a:t>✖ Computationally expensive for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3953048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sklearn.cluster import AgglomerativeClustering</a:t>
            </a:r>
          </a:p>
          <a:p>
            <a:r>
              <a:t>agglo = AgglomerativeClustering(n_clusters=3)</a:t>
            </a:r>
          </a:p>
          <a:p>
            <a:r>
              <a:t>labels = agglo.fit_predict(X)</a:t>
            </a:r>
          </a:p>
        </p:txBody>
      </p:sp>
    </p:spTree>
    <p:extLst>
      <p:ext uri="{BB962C8B-B14F-4D97-AF65-F5344CB8AC3E}">
        <p14:creationId xmlns:p14="http://schemas.microsoft.com/office/powerpoint/2010/main" val="3633874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altLang="en-US" sz="2400" b="1" dirty="0"/>
              <a:t>DBSCAN (Density-Based Spatial Clustering of Applications with Noise)</a:t>
            </a:r>
            <a:r>
              <a:rPr lang="en-US" altLang="en-US" sz="800" b="1" dirty="0">
                <a:latin typeface="Arial" panose="020B0604020202020204" pitchFamily="34" charset="0"/>
              </a:rPr>
              <a:t/>
            </a:r>
            <a:br>
              <a:rPr lang="en-US" altLang="en-US" sz="800" b="1" dirty="0"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25120" y="1470928"/>
            <a:ext cx="836167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Defines a core point if it has at least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minPts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neighbors within radius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ε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Expands clusters from core points.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Labels outliers as noise.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Similarity Measure: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density connectivity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instead of distances or centroids.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detect arbitrarily shaped clusters and noise.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857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DBSCAN?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Handles arbitrary cluster shapes.</a:t>
            </a:r>
          </a:p>
          <a:p>
            <a:pPr marL="0" indent="0">
              <a:buNone/>
            </a:pPr>
            <a:r>
              <a:rPr dirty="0"/>
              <a:t>• Works well with noise and outliers.</a:t>
            </a:r>
          </a:p>
          <a:p>
            <a:pPr marL="0" indent="0">
              <a:buNone/>
            </a:pPr>
            <a:r>
              <a:rPr dirty="0"/>
              <a:t>• Does not require specifying 'K'.</a:t>
            </a:r>
          </a:p>
        </p:txBody>
      </p:sp>
    </p:spTree>
    <p:extLst>
      <p:ext uri="{BB962C8B-B14F-4D97-AF65-F5344CB8AC3E}">
        <p14:creationId xmlns:p14="http://schemas.microsoft.com/office/powerpoint/2010/main" val="23427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Detects outliers.</a:t>
            </a:r>
          </a:p>
          <a:p>
            <a:r>
              <a:t>✔ Handles non-spherical clusters.</a:t>
            </a:r>
          </a:p>
          <a:p>
            <a:r>
              <a:t>✖ Sensitive to parameter selection.</a:t>
            </a:r>
          </a:p>
        </p:txBody>
      </p:sp>
    </p:spTree>
    <p:extLst>
      <p:ext uri="{BB962C8B-B14F-4D97-AF65-F5344CB8AC3E}">
        <p14:creationId xmlns:p14="http://schemas.microsoft.com/office/powerpoint/2010/main" val="1480452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sklearn.cluster import DBSCAN</a:t>
            </a:r>
          </a:p>
          <a:p>
            <a:r>
              <a:t>dbscan = DBSCAN(eps=0.5, min_samples=5)</a:t>
            </a:r>
          </a:p>
          <a:p>
            <a:r>
              <a:t>labels = dbscan.fit_predict(X)</a:t>
            </a:r>
          </a:p>
        </p:txBody>
      </p:sp>
    </p:spTree>
    <p:extLst>
      <p:ext uri="{BB962C8B-B14F-4D97-AF65-F5344CB8AC3E}">
        <p14:creationId xmlns:p14="http://schemas.microsoft.com/office/powerpoint/2010/main" val="3579330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Randomly split data points.</a:t>
            </a:r>
          </a:p>
          <a:p>
            <a:r>
              <a:t>2. Outliers are isolated quickly.</a:t>
            </a:r>
          </a:p>
          <a:p>
            <a:r>
              <a:t>3. Anomalies have shorter path lengths.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Isolation Forest?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Effective for high-dimensional data.</a:t>
            </a:r>
          </a:p>
          <a:p>
            <a:r>
              <a:t>• Faster than traditional anomaly detection methods.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Efficient and scalable.</a:t>
            </a:r>
          </a:p>
          <a:p>
            <a:r>
              <a:t>✔ Handles high-dimensional data well.</a:t>
            </a:r>
          </a:p>
          <a:p>
            <a:r>
              <a:t>✖ Not always interpretable.</a:t>
            </a:r>
          </a:p>
          <a:p>
            <a:r>
              <a:t>✖ Sensitive to contamination parameter.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sklearn.ensemble import IsolationForest</a:t>
            </a:r>
          </a:p>
          <a:p>
            <a:r>
              <a:t>iso_forest = IsolationForest()</a:t>
            </a:r>
          </a:p>
          <a:p>
            <a:r>
              <a:t>labels = iso_forest.fit_predict(X)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3146</TotalTime>
  <Words>572</Words>
  <Application>Microsoft Office PowerPoint</Application>
  <PresentationFormat>On-screen Show (4:3)</PresentationFormat>
  <Paragraphs>90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Arial Unicode MS</vt:lpstr>
      <vt:lpstr>Calibri</vt:lpstr>
      <vt:lpstr>Office Theme</vt:lpstr>
      <vt:lpstr>What is a Cluster? </vt:lpstr>
      <vt:lpstr>PowerPoint Presentation</vt:lpstr>
      <vt:lpstr>Why is Clustering an Unsupervised</vt:lpstr>
      <vt:lpstr>Methods</vt:lpstr>
      <vt:lpstr>Anomaly and PCA</vt:lpstr>
      <vt:lpstr>K-Means Clustering </vt:lpstr>
      <vt:lpstr>Choosing 'K'</vt:lpstr>
      <vt:lpstr>Advantages &amp; Disadvantages</vt:lpstr>
      <vt:lpstr>Python Code</vt:lpstr>
      <vt:lpstr>Agglomerative Clustering </vt:lpstr>
      <vt:lpstr>Advantages &amp; Disadvantages</vt:lpstr>
      <vt:lpstr>Python Code</vt:lpstr>
      <vt:lpstr>DBSCAN (Density-Based Spatial Clustering of Applications with Noise) </vt:lpstr>
      <vt:lpstr>Why Use DBSCAN?</vt:lpstr>
      <vt:lpstr>Advantages &amp; Disadvantages</vt:lpstr>
      <vt:lpstr>Python Code</vt:lpstr>
      <vt:lpstr>How It Works</vt:lpstr>
      <vt:lpstr>Why Use Isolation Forest?</vt:lpstr>
      <vt:lpstr>Advantages &amp; Disadvantages</vt:lpstr>
      <vt:lpstr>Python Code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Isolation Forest</dc:title>
  <dc:subject/>
  <dc:creator>Murthy</dc:creator>
  <cp:keywords/>
  <dc:description>generated using python-pptx</dc:description>
  <cp:lastModifiedBy>Murthy</cp:lastModifiedBy>
  <cp:revision>9</cp:revision>
  <dcterms:created xsi:type="dcterms:W3CDTF">2013-01-27T09:14:16Z</dcterms:created>
  <dcterms:modified xsi:type="dcterms:W3CDTF">2025-02-23T11:22:07Z</dcterms:modified>
  <cp:category/>
</cp:coreProperties>
</file>