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87" r:id="rId5"/>
    <p:sldId id="261" r:id="rId6"/>
    <p:sldId id="260" r:id="rId7"/>
    <p:sldId id="264" r:id="rId8"/>
    <p:sldId id="265" r:id="rId9"/>
    <p:sldId id="267" r:id="rId10"/>
    <p:sldId id="266" r:id="rId11"/>
    <p:sldId id="269" r:id="rId12"/>
    <p:sldId id="270" r:id="rId13"/>
    <p:sldId id="271" r:id="rId14"/>
    <p:sldId id="272" r:id="rId15"/>
    <p:sldId id="273" r:id="rId16"/>
    <p:sldId id="274" r:id="rId17"/>
    <p:sldId id="275" r:id="rId18"/>
    <p:sldId id="289" r:id="rId19"/>
    <p:sldId id="276" r:id="rId20"/>
    <p:sldId id="277" r:id="rId21"/>
    <p:sldId id="278" r:id="rId22"/>
    <p:sldId id="279" r:id="rId23"/>
    <p:sldId id="280" r:id="rId24"/>
    <p:sldId id="285" r:id="rId25"/>
    <p:sldId id="284" r:id="rId26"/>
    <p:sldId id="290" r:id="rId27"/>
    <p:sldId id="281" r:id="rId28"/>
    <p:sldId id="282" r:id="rId29"/>
    <p:sldId id="283" r:id="rId30"/>
    <p:sldId id="286" r:id="rId31"/>
    <p:sldId id="304" r:id="rId32"/>
    <p:sldId id="312" r:id="rId33"/>
    <p:sldId id="314" r:id="rId34"/>
    <p:sldId id="313" r:id="rId35"/>
    <p:sldId id="315" r:id="rId36"/>
    <p:sldId id="316" r:id="rId37"/>
    <p:sldId id="317" r:id="rId38"/>
    <p:sldId id="291" r:id="rId39"/>
    <p:sldId id="292" r:id="rId40"/>
    <p:sldId id="293" r:id="rId41"/>
    <p:sldId id="294" r:id="rId42"/>
    <p:sldId id="295" r:id="rId43"/>
    <p:sldId id="296" r:id="rId44"/>
    <p:sldId id="297" r:id="rId45"/>
    <p:sldId id="301" r:id="rId46"/>
    <p:sldId id="302" r:id="rId47"/>
    <p:sldId id="303" r:id="rId48"/>
    <p:sldId id="318" r:id="rId49"/>
    <p:sldId id="30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23" d="100"/>
          <a:sy n="123" d="100"/>
        </p:scale>
        <p:origin x="11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26E6F-358A-4C4B-96F5-6AFD926BD3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EA704BA-3BE0-4085-AAE0-5D99C50BBF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1D2713-B1B6-4D72-ACA9-7F5439EC9D12}"/>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5" name="Footer Placeholder 4">
            <a:extLst>
              <a:ext uri="{FF2B5EF4-FFF2-40B4-BE49-F238E27FC236}">
                <a16:creationId xmlns:a16="http://schemas.microsoft.com/office/drawing/2014/main" id="{86316C07-2C1E-4D86-BB45-675BC1D727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AC562F-A9E5-4D9D-9609-7F8CBFCF5155}"/>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3717008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89E77-7AA1-4E16-AC17-0FD75AD278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18E5EB-5136-4CB1-BAB1-16123C9FA9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37E547-B8C4-4846-926D-AE95F62390AA}"/>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5" name="Footer Placeholder 4">
            <a:extLst>
              <a:ext uri="{FF2B5EF4-FFF2-40B4-BE49-F238E27FC236}">
                <a16:creationId xmlns:a16="http://schemas.microsoft.com/office/drawing/2014/main" id="{8FEBF419-480D-43AE-A2BB-9DB4A4B2B2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22FA65-6624-49B9-8CEE-5ACC3E68112E}"/>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3467189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1745C-FA79-4EAF-8CA9-B3802C400A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60AE6D-4358-4A59-A327-E0C60CECB8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73331C-8843-47AF-A295-18C74F2E0893}"/>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5" name="Footer Placeholder 4">
            <a:extLst>
              <a:ext uri="{FF2B5EF4-FFF2-40B4-BE49-F238E27FC236}">
                <a16:creationId xmlns:a16="http://schemas.microsoft.com/office/drawing/2014/main" id="{0F324B74-62C4-4C47-82A9-A8230733C5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410D0E-3C14-480C-BDE1-30740EDBF48E}"/>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3067155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7B9C-8DDA-4A07-B2D7-91B64FF15F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72F40F-D87D-416E-92D0-A9FFCD6137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CDCA366-4E2F-4552-BA7C-A55F2035A3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9AE78A-C6A6-4191-B625-02DD87D02ED3}"/>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6" name="Footer Placeholder 5">
            <a:extLst>
              <a:ext uri="{FF2B5EF4-FFF2-40B4-BE49-F238E27FC236}">
                <a16:creationId xmlns:a16="http://schemas.microsoft.com/office/drawing/2014/main" id="{C4017F8A-DE22-46D5-83C0-2A938DC516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1143C8-C7B4-4686-874E-FCEB2B9624C1}"/>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192124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98F1C-32B5-45EB-8FB0-CDFA8842C9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9EEA4C-20BC-4058-ADBC-84AF84AE5E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019280-F32D-45CA-AF7E-35DD5B62F7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23857C-1851-41FF-9366-1656039CF1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28CB43-0038-40A6-87BD-817ACC047E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B9168BD-5D28-44E8-B17E-38ACFA0ACDCE}"/>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8" name="Footer Placeholder 7">
            <a:extLst>
              <a:ext uri="{FF2B5EF4-FFF2-40B4-BE49-F238E27FC236}">
                <a16:creationId xmlns:a16="http://schemas.microsoft.com/office/drawing/2014/main" id="{1FAB01B9-F394-4DB3-A3F9-E2A5DEEB98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2DBDFBB-21E2-48D1-A59D-A4E5BEDEF1B6}"/>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3483107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F3FCD-2427-4DF5-99E5-5C745C40120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DB685AF-0EED-4A7B-9397-A4F705B80BFF}"/>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4" name="Footer Placeholder 3">
            <a:extLst>
              <a:ext uri="{FF2B5EF4-FFF2-40B4-BE49-F238E27FC236}">
                <a16:creationId xmlns:a16="http://schemas.microsoft.com/office/drawing/2014/main" id="{706F1E30-7DA0-4F7F-884F-3F0CFA489C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5487777-EA9C-4FDC-A1CF-195A38EBEDF9}"/>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88431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55B45-0131-455C-BEF1-DA6959348953}"/>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3" name="Footer Placeholder 2">
            <a:extLst>
              <a:ext uri="{FF2B5EF4-FFF2-40B4-BE49-F238E27FC236}">
                <a16:creationId xmlns:a16="http://schemas.microsoft.com/office/drawing/2014/main" id="{90AA7A6E-821F-4CB3-AFF9-0901F727E9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D5EAA5-9A43-4FED-AEDE-BA62DC73A530}"/>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1110127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7EC3D-AFDB-42B2-B45E-ACDC8C21D3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86845E-81E8-48DA-9E35-E9138AC488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7900E1-6F37-4B11-BDF5-0012CAD71D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7E6872-B268-4F15-93F8-AEFF0F14345B}"/>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6" name="Footer Placeholder 5">
            <a:extLst>
              <a:ext uri="{FF2B5EF4-FFF2-40B4-BE49-F238E27FC236}">
                <a16:creationId xmlns:a16="http://schemas.microsoft.com/office/drawing/2014/main" id="{B7E18199-DA5E-4A83-9131-160FD80218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354706-53A4-4B87-BA7D-25C76E6FB6A0}"/>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1760886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18B7F-334C-46DF-9853-4E36D99D66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B25D2E-B0EB-42A0-ABA7-13AA1A30BB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94DE0E2-51F7-4DF4-BB01-530CA6B366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9EC0EB-267D-4A37-9E5D-9EC259661BAA}"/>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6" name="Footer Placeholder 5">
            <a:extLst>
              <a:ext uri="{FF2B5EF4-FFF2-40B4-BE49-F238E27FC236}">
                <a16:creationId xmlns:a16="http://schemas.microsoft.com/office/drawing/2014/main" id="{B9329CC2-27A2-4640-9C7C-3854560DE4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82589B-3438-4362-9B77-755E080BBF2C}"/>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2322169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CE29A-B98E-4DB9-8B19-216C282B95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20BCDF-F5DB-4C19-A105-48E65E17B0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4228C6-BC3C-4CEE-8C51-C413CCF08F25}"/>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5" name="Footer Placeholder 4">
            <a:extLst>
              <a:ext uri="{FF2B5EF4-FFF2-40B4-BE49-F238E27FC236}">
                <a16:creationId xmlns:a16="http://schemas.microsoft.com/office/drawing/2014/main" id="{B564444F-5317-433D-A09C-1EF8378F8B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34C26B-D864-425E-BEDA-D95C5FB1D8E9}"/>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3057948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B2871D-CB91-4F09-BB9B-914B60FB49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A9B75A6-49FF-4270-84C0-6EE7C4EEAC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7B62FA-139B-423F-9A5F-560BC157E93E}"/>
              </a:ext>
            </a:extLst>
          </p:cNvPr>
          <p:cNvSpPr>
            <a:spLocks noGrp="1"/>
          </p:cNvSpPr>
          <p:nvPr>
            <p:ph type="dt" sz="half" idx="10"/>
          </p:nvPr>
        </p:nvSpPr>
        <p:spPr/>
        <p:txBody>
          <a:bodyPr/>
          <a:lstStyle/>
          <a:p>
            <a:fld id="{70229A11-8311-4502-B414-0F6081A97A92}" type="datetimeFigureOut">
              <a:rPr lang="en-IN" smtClean="0"/>
              <a:t>31-10-2024</a:t>
            </a:fld>
            <a:endParaRPr lang="en-IN"/>
          </a:p>
        </p:txBody>
      </p:sp>
      <p:sp>
        <p:nvSpPr>
          <p:cNvPr id="5" name="Footer Placeholder 4">
            <a:extLst>
              <a:ext uri="{FF2B5EF4-FFF2-40B4-BE49-F238E27FC236}">
                <a16:creationId xmlns:a16="http://schemas.microsoft.com/office/drawing/2014/main" id="{7D225DEB-368B-46A2-8B75-4472056651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4A5CD3-F921-419A-9FF1-57D8361EBA43}"/>
              </a:ext>
            </a:extLst>
          </p:cNvPr>
          <p:cNvSpPr>
            <a:spLocks noGrp="1"/>
          </p:cNvSpPr>
          <p:nvPr>
            <p:ph type="sldNum" sz="quarter" idx="12"/>
          </p:nvPr>
        </p:nvSpPr>
        <p:spPr/>
        <p:txBody>
          <a:bodyPr/>
          <a:lstStyle/>
          <a:p>
            <a:fld id="{15BD399F-670A-443C-A45C-40047DD1F22F}" type="slidenum">
              <a:rPr lang="en-IN" smtClean="0"/>
              <a:t>‹#›</a:t>
            </a:fld>
            <a:endParaRPr lang="en-IN"/>
          </a:p>
        </p:txBody>
      </p:sp>
    </p:spTree>
    <p:extLst>
      <p:ext uri="{BB962C8B-B14F-4D97-AF65-F5344CB8AC3E}">
        <p14:creationId xmlns:p14="http://schemas.microsoft.com/office/powerpoint/2010/main" val="226349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0C9DFC-D8CD-42E4-A636-B71C65933E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49F186-5255-41AE-AFDB-59DDCEF1B6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7E30D5-96C1-4E32-9949-DA103A164D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229A11-8311-4502-B414-0F6081A97A92}" type="datetimeFigureOut">
              <a:rPr lang="en-IN" smtClean="0"/>
              <a:t>31-10-2024</a:t>
            </a:fld>
            <a:endParaRPr lang="en-IN"/>
          </a:p>
        </p:txBody>
      </p:sp>
      <p:sp>
        <p:nvSpPr>
          <p:cNvPr id="5" name="Footer Placeholder 4">
            <a:extLst>
              <a:ext uri="{FF2B5EF4-FFF2-40B4-BE49-F238E27FC236}">
                <a16:creationId xmlns:a16="http://schemas.microsoft.com/office/drawing/2014/main" id="{C0303D93-F425-4DC0-A2AA-DAF862C3B8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E11C2D-CB25-439B-A833-5C20B7D975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BD399F-670A-443C-A45C-40047DD1F22F}" type="slidenum">
              <a:rPr lang="en-IN" smtClean="0"/>
              <a:t>‹#›</a:t>
            </a:fld>
            <a:endParaRPr lang="en-IN"/>
          </a:p>
        </p:txBody>
      </p:sp>
    </p:spTree>
    <p:extLst>
      <p:ext uri="{BB962C8B-B14F-4D97-AF65-F5344CB8AC3E}">
        <p14:creationId xmlns:p14="http://schemas.microsoft.com/office/powerpoint/2010/main" val="2262707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ml-cheatsheet.readthedocs.io/" TargetMode="External"/><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hyperlink" Target="https://ml-cheatsheet.readthedocs.io/"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ashutoshtripathi.com/2019/06/17/logistic-regression-with-an-example-in-r/" TargetMode="External"/><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www.researchgate.net/" TargetMode="External"/><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analyticsvidhya.com/"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www.analyticsvidhya.com/"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hyperlink" Target="https://www.analyticsvidhya.com/" TargetMode="External"/><Relationship Id="rId2" Type="http://schemas.openxmlformats.org/officeDocument/2006/relationships/hyperlink" Target="https://stats.stackexchange.com/questions/477063/how-to-derive-equation-of-gini-index-used-in-decision-trees" TargetMode="Externa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23C1DF-F95C-4FE1-A8AD-9C58DC10F582}"/>
              </a:ext>
            </a:extLst>
          </p:cNvPr>
          <p:cNvSpPr/>
          <p:nvPr/>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eaLnBrk="1" fontAlgn="auto" hangingPunct="1">
              <a:spcBef>
                <a:spcPts val="0"/>
              </a:spcBef>
              <a:spcAft>
                <a:spcPts val="0"/>
              </a:spcAft>
              <a:defRPr/>
            </a:pPr>
            <a:endParaRPr lang="en-IN" sz="4400" b="1" dirty="0">
              <a:latin typeface="Algerian" pitchFamily="82" charset="0"/>
            </a:endParaRPr>
          </a:p>
          <a:p>
            <a:pPr algn="ctr" eaLnBrk="1" fontAlgn="auto" hangingPunct="1">
              <a:spcBef>
                <a:spcPts val="0"/>
              </a:spcBef>
              <a:spcAft>
                <a:spcPts val="0"/>
              </a:spcAft>
              <a:defRPr/>
            </a:pPr>
            <a:endParaRPr lang="en-IN" sz="5400" b="1" dirty="0">
              <a:solidFill>
                <a:schemeClr val="tx1"/>
              </a:solidFill>
              <a:latin typeface="Arial" panose="020B0604020202020204" pitchFamily="34" charset="0"/>
              <a:cs typeface="Arial" panose="020B0604020202020204" pitchFamily="34" charset="0"/>
            </a:endParaRPr>
          </a:p>
          <a:p>
            <a:pPr algn="ctr" eaLnBrk="1" fontAlgn="auto" hangingPunct="1">
              <a:spcBef>
                <a:spcPts val="0"/>
              </a:spcBef>
              <a:spcAft>
                <a:spcPts val="0"/>
              </a:spcAft>
              <a:defRPr/>
            </a:pPr>
            <a:endParaRPr lang="en-IN" sz="5400" b="1" dirty="0">
              <a:solidFill>
                <a:schemeClr val="tx1"/>
              </a:solidFill>
              <a:latin typeface="Arial" panose="020B0604020202020204" pitchFamily="34" charset="0"/>
              <a:cs typeface="Arial" panose="020B0604020202020204" pitchFamily="34" charset="0"/>
            </a:endParaRPr>
          </a:p>
          <a:p>
            <a:pPr algn="ctr" eaLnBrk="1" fontAlgn="auto" hangingPunct="1">
              <a:spcBef>
                <a:spcPts val="0"/>
              </a:spcBef>
              <a:spcAft>
                <a:spcPts val="0"/>
              </a:spcAft>
              <a:defRPr/>
            </a:pPr>
            <a:r>
              <a:rPr lang="en-IN" sz="5400" b="1" dirty="0">
                <a:solidFill>
                  <a:schemeClr val="tx1"/>
                </a:solidFill>
                <a:latin typeface="Arial" panose="020B0604020202020204" pitchFamily="34" charset="0"/>
                <a:cs typeface="Arial" panose="020B0604020202020204" pitchFamily="34" charset="0"/>
              </a:rPr>
              <a:t>Machine Learning </a:t>
            </a:r>
            <a:br>
              <a:rPr lang="en-IN" sz="5400" b="1" dirty="0">
                <a:solidFill>
                  <a:schemeClr val="tx1"/>
                </a:solidFill>
                <a:latin typeface="Arial" panose="020B0604020202020204" pitchFamily="34" charset="0"/>
                <a:cs typeface="Arial" panose="020B0604020202020204" pitchFamily="34" charset="0"/>
              </a:rPr>
            </a:br>
            <a:r>
              <a:rPr lang="en-IN" sz="5400" b="1" dirty="0">
                <a:solidFill>
                  <a:schemeClr val="tx1"/>
                </a:solidFill>
                <a:latin typeface="Arial" panose="020B0604020202020204" pitchFamily="34" charset="0"/>
                <a:cs typeface="Arial" panose="020B0604020202020204" pitchFamily="34" charset="0"/>
              </a:rPr>
              <a:t>for </a:t>
            </a:r>
            <a:br>
              <a:rPr lang="en-IN" sz="5400" b="1" dirty="0">
                <a:solidFill>
                  <a:schemeClr val="tx1"/>
                </a:solidFill>
                <a:latin typeface="Arial" panose="020B0604020202020204" pitchFamily="34" charset="0"/>
                <a:cs typeface="Arial" panose="020B0604020202020204" pitchFamily="34" charset="0"/>
              </a:rPr>
            </a:br>
            <a:r>
              <a:rPr lang="en-IN" sz="5400" b="1" dirty="0">
                <a:solidFill>
                  <a:schemeClr val="tx1"/>
                </a:solidFill>
                <a:latin typeface="Arial" panose="020B0604020202020204" pitchFamily="34" charset="0"/>
                <a:cs typeface="Arial" panose="020B0604020202020204" pitchFamily="34" charset="0"/>
              </a:rPr>
              <a:t>DATA SCIENCE</a:t>
            </a:r>
          </a:p>
          <a:p>
            <a:pPr algn="ctr" eaLnBrk="1" fontAlgn="auto" hangingPunct="1">
              <a:spcBef>
                <a:spcPts val="0"/>
              </a:spcBef>
              <a:spcAft>
                <a:spcPts val="0"/>
              </a:spcAft>
              <a:defRPr/>
            </a:pPr>
            <a:endParaRPr lang="en-IN" sz="5400" b="1" dirty="0">
              <a:solidFill>
                <a:schemeClr val="tx1"/>
              </a:solidFill>
              <a:latin typeface="Arial" panose="020B0604020202020204" pitchFamily="34" charset="0"/>
              <a:cs typeface="Arial" panose="020B0604020202020204" pitchFamily="34" charset="0"/>
            </a:endParaRPr>
          </a:p>
          <a:p>
            <a:pPr algn="ctr" eaLnBrk="1" fontAlgn="auto" hangingPunct="1">
              <a:spcBef>
                <a:spcPts val="0"/>
              </a:spcBef>
              <a:spcAft>
                <a:spcPts val="0"/>
              </a:spcAft>
              <a:defRPr/>
            </a:pPr>
            <a:endParaRPr lang="en-IN" sz="3600" b="1" dirty="0">
              <a:solidFill>
                <a:schemeClr val="tx1"/>
              </a:solidFill>
              <a:latin typeface="Arial" panose="020B0604020202020204" pitchFamily="34" charset="0"/>
              <a:cs typeface="Arial" panose="020B0604020202020204" pitchFamily="34" charset="0"/>
            </a:endParaRPr>
          </a:p>
          <a:p>
            <a:pPr eaLnBrk="1" fontAlgn="auto" hangingPunct="1">
              <a:spcBef>
                <a:spcPts val="0"/>
              </a:spcBef>
              <a:spcAft>
                <a:spcPts val="0"/>
              </a:spcAft>
              <a:defRPr/>
            </a:pPr>
            <a:endParaRPr lang="en-IN" sz="3600" dirty="0">
              <a:solidFill>
                <a:schemeClr val="tx1"/>
              </a:solidFill>
              <a:latin typeface="Times New Roman" pitchFamily="18" charset="0"/>
              <a:cs typeface="Times New Roman" pitchFamily="18" charset="0"/>
            </a:endParaRPr>
          </a:p>
          <a:p>
            <a:pPr eaLnBrk="1" fontAlgn="auto" hangingPunct="1">
              <a:spcBef>
                <a:spcPts val="0"/>
              </a:spcBef>
              <a:spcAft>
                <a:spcPts val="0"/>
              </a:spcAft>
              <a:defRPr/>
            </a:pPr>
            <a:r>
              <a:rPr lang="en-IN" sz="3600" dirty="0">
                <a:solidFill>
                  <a:schemeClr val="tx1"/>
                </a:solidFill>
                <a:latin typeface="Times New Roman" pitchFamily="18" charset="0"/>
                <a:cs typeface="Times New Roman" pitchFamily="18" charset="0"/>
              </a:rPr>
              <a:t>					         	 </a:t>
            </a:r>
            <a:r>
              <a:rPr lang="en-IN" sz="3200" b="1" dirty="0">
                <a:latin typeface="Times New Roman" pitchFamily="18" charset="0"/>
                <a:cs typeface="Times New Roman" pitchFamily="18" charset="0"/>
              </a:rPr>
              <a:t>	</a:t>
            </a:r>
            <a:r>
              <a:rPr lang="en-IN" sz="2400" b="1" dirty="0">
                <a:latin typeface="Times New Roman" pitchFamily="18" charset="0"/>
                <a:cs typeface="Times New Roman" pitchFamily="18" charset="0"/>
              </a:rPr>
              <a:t>	</a:t>
            </a:r>
            <a:endParaRPr lang="en-US" sz="3200" b="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IN" sz="3200" b="1" dirty="0">
                <a:solidFill>
                  <a:schemeClr val="tx1"/>
                </a:solidFill>
                <a:latin typeface="Times New Roman" pitchFamily="18" charset="0"/>
                <a:cs typeface="Times New Roman" pitchFamily="18" charset="0"/>
              </a:rPr>
              <a:t>Learning Objectives</a:t>
            </a:r>
            <a:endParaRPr lang="en-US" sz="3200"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4C034A05-7FF5-462B-B888-AA1974FD148B}"/>
              </a:ext>
            </a:extLst>
          </p:cNvPr>
          <p:cNvSpPr txBox="1"/>
          <p:nvPr/>
        </p:nvSpPr>
        <p:spPr>
          <a:xfrm>
            <a:off x="411163" y="1630363"/>
            <a:ext cx="6082402" cy="3108543"/>
          </a:xfrm>
          <a:prstGeom prst="rect">
            <a:avLst/>
          </a:prstGeom>
          <a:noFill/>
        </p:spPr>
        <p:txBody>
          <a:bodyPr wrap="square">
            <a:spAutoFit/>
          </a:bodyPr>
          <a:lstStyle/>
          <a:p>
            <a:pPr>
              <a:defRPr/>
            </a:pPr>
            <a:r>
              <a:rPr lang="en-US" sz="2800" b="1" dirty="0">
                <a:latin typeface="Times New Roman" panose="02020603050405020304" pitchFamily="18" charset="0"/>
                <a:cs typeface="Times New Roman" panose="02020603050405020304" pitchFamily="18" charset="0"/>
              </a:rPr>
              <a:t>Today you will learn:</a:t>
            </a:r>
          </a:p>
          <a:p>
            <a:pPr marL="457200" indent="-457200">
              <a:buFont typeface="Wingdings" panose="05000000000000000000" pitchFamily="2" charset="2"/>
              <a:buChar char="Ø"/>
              <a:defRPr/>
            </a:pPr>
            <a:r>
              <a:rPr lang="en-US" sz="2800" b="1" dirty="0">
                <a:latin typeface="Times New Roman" panose="02020603050405020304" pitchFamily="18" charset="0"/>
                <a:cs typeface="Times New Roman" panose="02020603050405020304" pitchFamily="18" charset="0"/>
              </a:rPr>
              <a:t>What is Machine Learning</a:t>
            </a:r>
          </a:p>
          <a:p>
            <a:pPr marL="457200" indent="-457200">
              <a:buFont typeface="Wingdings" panose="05000000000000000000" pitchFamily="2" charset="2"/>
              <a:buChar char="Ø"/>
              <a:defRPr/>
            </a:pPr>
            <a:r>
              <a:rPr lang="en-US" sz="2800" b="1" dirty="0">
                <a:latin typeface="Times New Roman" panose="02020603050405020304" pitchFamily="18" charset="0"/>
                <a:cs typeface="Times New Roman" panose="02020603050405020304" pitchFamily="18" charset="0"/>
              </a:rPr>
              <a:t>Linear Regression</a:t>
            </a:r>
          </a:p>
          <a:p>
            <a:pPr marL="457200" indent="-457200">
              <a:buFont typeface="Wingdings" panose="05000000000000000000" pitchFamily="2" charset="2"/>
              <a:buChar char="Ø"/>
              <a:defRPr/>
            </a:pPr>
            <a:r>
              <a:rPr lang="en-US" sz="2800" b="1" dirty="0">
                <a:latin typeface="Times New Roman" panose="02020603050405020304" pitchFamily="18" charset="0"/>
                <a:cs typeface="Times New Roman" panose="02020603050405020304" pitchFamily="18" charset="0"/>
              </a:rPr>
              <a:t>Logistic Regression</a:t>
            </a:r>
          </a:p>
          <a:p>
            <a:pPr marL="457200" indent="-457200">
              <a:buFont typeface="Wingdings" panose="05000000000000000000" pitchFamily="2" charset="2"/>
              <a:buChar char="Ø"/>
              <a:defRPr/>
            </a:pPr>
            <a:endParaRPr lang="en-US"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defRPr/>
            </a:pPr>
            <a:endParaRPr lang="en-US" sz="28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endParaRPr lang="en-IN" sz="2800" b="1" dirty="0"/>
          </a:p>
        </p:txBody>
      </p:sp>
      <p:pic>
        <p:nvPicPr>
          <p:cNvPr id="1026" name="Picture 2" descr="Funny design comparing artificial intelligence, machine learning and  statistics&quot; iPad Case &amp; Skin for Sale by omolog | Redbubble">
            <a:extLst>
              <a:ext uri="{FF2B5EF4-FFF2-40B4-BE49-F238E27FC236}">
                <a16:creationId xmlns:a16="http://schemas.microsoft.com/office/drawing/2014/main" id="{2ADA546A-973D-4ED4-B5A4-EE86FC7366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580" t="22222" r="15868" b="23773"/>
          <a:stretch/>
        </p:blipFill>
        <p:spPr bwMode="auto">
          <a:xfrm>
            <a:off x="6612835" y="1630363"/>
            <a:ext cx="4452730" cy="436639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0FF5ADB-6A07-43B1-B21E-96F295428DFA}"/>
              </a:ext>
            </a:extLst>
          </p:cNvPr>
          <p:cNvSpPr txBox="1"/>
          <p:nvPr/>
        </p:nvSpPr>
        <p:spPr>
          <a:xfrm>
            <a:off x="238885" y="6341243"/>
            <a:ext cx="10747167" cy="261610"/>
          </a:xfrm>
          <a:prstGeom prst="rect">
            <a:avLst/>
          </a:prstGeom>
          <a:noFill/>
        </p:spPr>
        <p:txBody>
          <a:bodyPr wrap="square">
            <a:spAutoFit/>
          </a:bodyPr>
          <a:lstStyle/>
          <a:p>
            <a:r>
              <a:rPr lang="en-IN" sz="1100" dirty="0"/>
              <a:t>https://www.redbubble.com/i/ipad-case/Funny-design-comparing-artificial-intelligence-machine-learning-and-statistics-by-omolog/43039603.MNKGF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Machine Learning</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4C034A05-7FF5-462B-B888-AA1974FD148B}"/>
              </a:ext>
            </a:extLst>
          </p:cNvPr>
          <p:cNvSpPr txBox="1"/>
          <p:nvPr/>
        </p:nvSpPr>
        <p:spPr>
          <a:xfrm>
            <a:off x="411163" y="1630363"/>
            <a:ext cx="5843863" cy="3200876"/>
          </a:xfrm>
          <a:prstGeom prst="rect">
            <a:avLst/>
          </a:prstGeom>
          <a:noFill/>
        </p:spPr>
        <p:txBody>
          <a:bodyPr wrap="square">
            <a:spAutoFit/>
          </a:bodyPr>
          <a:lstStyle/>
          <a:p>
            <a:pPr marL="342900" lvl="0" indent="-342900" algn="l" rtl="0">
              <a:spcBef>
                <a:spcPts val="0"/>
              </a:spcBef>
              <a:spcAft>
                <a:spcPts val="0"/>
              </a:spcAft>
              <a:buFont typeface="Wingdings" panose="05000000000000000000" pitchFamily="2" charset="2"/>
              <a:buChar char="Ø"/>
            </a:pPr>
            <a:r>
              <a:rPr lang="en-US" sz="2400" dirty="0">
                <a:solidFill>
                  <a:srgbClr val="212121"/>
                </a:solidFill>
                <a:highlight>
                  <a:srgbClr val="FFFFFF"/>
                </a:highlight>
                <a:latin typeface="Times New Roman" panose="02020603050405020304" pitchFamily="18" charset="0"/>
                <a:cs typeface="Times New Roman" panose="02020603050405020304" pitchFamily="18" charset="0"/>
              </a:rPr>
              <a:t>Machine learning is a field of data science that employs statistical techniques to enhance performance based on prior knowledge or find novel patterns in vast amounts of data. </a:t>
            </a:r>
          </a:p>
          <a:p>
            <a:pPr marL="342900" lvl="0" indent="-342900" algn="l" rtl="0">
              <a:spcBef>
                <a:spcPts val="1200"/>
              </a:spcBef>
              <a:spcAft>
                <a:spcPts val="0"/>
              </a:spcAft>
              <a:buFont typeface="Wingdings" panose="05000000000000000000" pitchFamily="2" charset="2"/>
              <a:buChar char="Ø"/>
            </a:pPr>
            <a:r>
              <a:rPr lang="en-US" sz="2400" dirty="0">
                <a:solidFill>
                  <a:srgbClr val="212121"/>
                </a:solidFill>
                <a:highlight>
                  <a:srgbClr val="FFFFFF"/>
                </a:highlight>
                <a:latin typeface="Times New Roman" panose="02020603050405020304" pitchFamily="18" charset="0"/>
                <a:cs typeface="Times New Roman" panose="02020603050405020304" pitchFamily="18" charset="0"/>
              </a:rPr>
              <a:t>While working at IBM in 1959, Arthur Samuel invented the phrase "Machine Learning”.</a:t>
            </a:r>
          </a:p>
        </p:txBody>
      </p:sp>
      <p:pic>
        <p:nvPicPr>
          <p:cNvPr id="6" name="Google Shape;129;p17">
            <a:extLst>
              <a:ext uri="{FF2B5EF4-FFF2-40B4-BE49-F238E27FC236}">
                <a16:creationId xmlns:a16="http://schemas.microsoft.com/office/drawing/2014/main" id="{B5265AC1-E4E9-4179-9E7A-536DAD40F27B}"/>
              </a:ext>
            </a:extLst>
          </p:cNvPr>
          <p:cNvPicPr preferRelativeResize="0"/>
          <p:nvPr/>
        </p:nvPicPr>
        <p:blipFill>
          <a:blip r:embed="rId2">
            <a:alphaModFix/>
          </a:blip>
          <a:stretch>
            <a:fillRect/>
          </a:stretch>
        </p:blipFill>
        <p:spPr>
          <a:xfrm>
            <a:off x="6523313" y="1630363"/>
            <a:ext cx="5416895" cy="4524315"/>
          </a:xfrm>
          <a:prstGeom prst="rect">
            <a:avLst/>
          </a:prstGeom>
          <a:noFill/>
          <a:ln>
            <a:noFill/>
          </a:ln>
        </p:spPr>
      </p:pic>
    </p:spTree>
    <p:extLst>
      <p:ext uri="{BB962C8B-B14F-4D97-AF65-F5344CB8AC3E}">
        <p14:creationId xmlns:p14="http://schemas.microsoft.com/office/powerpoint/2010/main" val="73793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p:tgtEl>
                                          <p:spTgt spid="6"/>
                                        </p:tgtEl>
                                        <p:attrNameLst>
                                          <p:attrName>ppt_w</p:attrName>
                                        </p:attrNameLst>
                                      </p:cBhvr>
                                      <p:tavLst>
                                        <p:tav tm="0">
                                          <p:val>
                                            <p:strVal val="0"/>
                                          </p:val>
                                        </p:tav>
                                        <p:tav tm="100000">
                                          <p:val>
                                            <p:strVal val="#ppt_w"/>
                                          </p:val>
                                        </p:tav>
                                      </p:tavLst>
                                    </p:anim>
                                    <p:anim calcmode="lin" valueType="num">
                                      <p:cBhvr additive="base">
                                        <p:cTn id="8" dur="1000"/>
                                        <p:tgtEl>
                                          <p:spTgt spid="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Types Machine Learning</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pic>
        <p:nvPicPr>
          <p:cNvPr id="11266" name="Picture 2" descr="The main types of machine learning. Main approaches include... | Download  Scientific Diagram">
            <a:extLst>
              <a:ext uri="{FF2B5EF4-FFF2-40B4-BE49-F238E27FC236}">
                <a16:creationId xmlns:a16="http://schemas.microsoft.com/office/drawing/2014/main" id="{ECE36D03-98D5-4062-BD86-9FBB040BC1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5353" y="1526070"/>
            <a:ext cx="8096250" cy="43624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C070EE0-A2DB-41FB-BE94-A3C882025CB5}"/>
              </a:ext>
            </a:extLst>
          </p:cNvPr>
          <p:cNvSpPr txBox="1"/>
          <p:nvPr/>
        </p:nvSpPr>
        <p:spPr>
          <a:xfrm>
            <a:off x="142875" y="6461209"/>
            <a:ext cx="9517960" cy="253916"/>
          </a:xfrm>
          <a:prstGeom prst="rect">
            <a:avLst/>
          </a:prstGeom>
          <a:noFill/>
        </p:spPr>
        <p:txBody>
          <a:bodyPr wrap="square">
            <a:spAutoFit/>
          </a:bodyPr>
          <a:lstStyle/>
          <a:p>
            <a:r>
              <a:rPr lang="en-IN" sz="1050" dirty="0"/>
              <a:t>https://www.researchgate.net/figure/The-main-types-of-machine-learning-Main-approaches-include-classification-and_fig1_354960266</a:t>
            </a:r>
          </a:p>
        </p:txBody>
      </p:sp>
    </p:spTree>
    <p:extLst>
      <p:ext uri="{BB962C8B-B14F-4D97-AF65-F5344CB8AC3E}">
        <p14:creationId xmlns:p14="http://schemas.microsoft.com/office/powerpoint/2010/main" val="2395239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23C1DF-F95C-4FE1-A8AD-9C58DC10F582}"/>
              </a:ext>
            </a:extLst>
          </p:cNvPr>
          <p:cNvSpPr/>
          <p:nvPr/>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Linear Regression</a:t>
            </a:r>
          </a:p>
        </p:txBody>
      </p:sp>
    </p:spTree>
    <p:extLst>
      <p:ext uri="{BB962C8B-B14F-4D97-AF65-F5344CB8AC3E}">
        <p14:creationId xmlns:p14="http://schemas.microsoft.com/office/powerpoint/2010/main" val="4204952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Linear Regression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4C034A05-7FF5-462B-B888-AA1974FD148B}"/>
              </a:ext>
            </a:extLst>
          </p:cNvPr>
          <p:cNvSpPr txBox="1"/>
          <p:nvPr/>
        </p:nvSpPr>
        <p:spPr>
          <a:xfrm>
            <a:off x="411163" y="1630363"/>
            <a:ext cx="5340280" cy="3046988"/>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Linear regression helps answer the question, if and how a change in X influences a change in Y. </a:t>
            </a:r>
          </a:p>
          <a:p>
            <a:pPr marL="342900" indent="-342900" algn="l">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Here Y is dependent/label data and X is independent/feature variable.</a:t>
            </a:r>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It is used to model quantitative dependency (continuous variable).</a:t>
            </a: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We model change in Y = f(X)</a:t>
            </a:r>
          </a:p>
        </p:txBody>
      </p:sp>
      <p:pic>
        <p:nvPicPr>
          <p:cNvPr id="1026" name="Picture 2" descr="Linear Regression in Machine learning - Javatpoint">
            <a:extLst>
              <a:ext uri="{FF2B5EF4-FFF2-40B4-BE49-F238E27FC236}">
                <a16:creationId xmlns:a16="http://schemas.microsoft.com/office/drawing/2014/main" id="{ED47C2A4-5933-4C08-98F3-F093F21BB5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0559" y="1627050"/>
            <a:ext cx="4625006" cy="462500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79AB240-4123-4AA0-89F5-2CAE8359C45A}"/>
              </a:ext>
            </a:extLst>
          </p:cNvPr>
          <p:cNvSpPr txBox="1"/>
          <p:nvPr/>
        </p:nvSpPr>
        <p:spPr>
          <a:xfrm>
            <a:off x="142875" y="6484293"/>
            <a:ext cx="6096000" cy="230832"/>
          </a:xfrm>
          <a:prstGeom prst="rect">
            <a:avLst/>
          </a:prstGeom>
          <a:noFill/>
        </p:spPr>
        <p:txBody>
          <a:bodyPr wrap="square">
            <a:spAutoFit/>
          </a:bodyPr>
          <a:lstStyle/>
          <a:p>
            <a:r>
              <a:rPr lang="en-IN" sz="900" dirty="0"/>
              <a:t>https://www.javatpoint.com/linear-regression-in-machine-learning</a:t>
            </a:r>
          </a:p>
        </p:txBody>
      </p:sp>
    </p:spTree>
    <p:extLst>
      <p:ext uri="{BB962C8B-B14F-4D97-AF65-F5344CB8AC3E}">
        <p14:creationId xmlns:p14="http://schemas.microsoft.com/office/powerpoint/2010/main" val="630043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Simple Linear Regression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4C034A05-7FF5-462B-B888-AA1974FD148B}"/>
              </a:ext>
            </a:extLst>
          </p:cNvPr>
          <p:cNvSpPr txBox="1"/>
          <p:nvPr/>
        </p:nvSpPr>
        <p:spPr>
          <a:xfrm>
            <a:off x="411163" y="1630363"/>
            <a:ext cx="5340280" cy="3046988"/>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Relationship between a dependent variable with ‘</a:t>
            </a:r>
            <a:r>
              <a:rPr lang="en-US" sz="2400" b="1" i="0" dirty="0">
                <a:solidFill>
                  <a:srgbClr val="000000"/>
                </a:solidFill>
                <a:effectLst/>
                <a:latin typeface="Times New Roman" panose="02020603050405020304" pitchFamily="18" charset="0"/>
                <a:cs typeface="Times New Roman" panose="02020603050405020304" pitchFamily="18" charset="0"/>
              </a:rPr>
              <a:t>ONE</a:t>
            </a:r>
            <a:r>
              <a:rPr lang="en-US" sz="2400" b="0" i="0" dirty="0">
                <a:solidFill>
                  <a:srgbClr val="000000"/>
                </a:solidFill>
                <a:effectLst/>
                <a:latin typeface="Times New Roman" panose="02020603050405020304" pitchFamily="18" charset="0"/>
                <a:cs typeface="Times New Roman" panose="02020603050405020304" pitchFamily="18" charset="0"/>
              </a:rPr>
              <a:t>’ independent variable.</a:t>
            </a:r>
          </a:p>
          <a:p>
            <a:pPr marL="342900" indent="-342900" algn="l">
              <a:buFont typeface="Wingdings" panose="05000000000000000000" pitchFamily="2" charset="2"/>
              <a:buChar char="Ø"/>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Y = a + b1X1 + </a:t>
            </a:r>
            <a:r>
              <a:rPr lang="en-GB" sz="2400" dirty="0">
                <a:solidFill>
                  <a:srgbClr val="212121"/>
                </a:solidFill>
              </a:rPr>
              <a:t>ε</a:t>
            </a:r>
          </a:p>
          <a:p>
            <a:pPr marL="800100" lvl="1" indent="-342900">
              <a:buFont typeface="Wingdings" panose="05000000000000000000" pitchFamily="2" charset="2"/>
              <a:buChar char="Ø"/>
            </a:pPr>
            <a:r>
              <a:rPr lang="en-GB" sz="2400" dirty="0">
                <a:solidFill>
                  <a:srgbClr val="212121"/>
                </a:solidFill>
                <a:latin typeface="Times New Roman" panose="02020603050405020304" pitchFamily="18" charset="0"/>
                <a:cs typeface="Times New Roman" panose="02020603050405020304" pitchFamily="18" charset="0"/>
              </a:rPr>
              <a:t>a</a:t>
            </a:r>
            <a:r>
              <a:rPr lang="en-GB" sz="2400" b="0" i="0" dirty="0">
                <a:solidFill>
                  <a:srgbClr val="212121"/>
                </a:solidFill>
                <a:effectLst/>
                <a:latin typeface="Times New Roman" panose="02020603050405020304" pitchFamily="18" charset="0"/>
                <a:cs typeface="Times New Roman" panose="02020603050405020304" pitchFamily="18" charset="0"/>
              </a:rPr>
              <a:t> = intercept</a:t>
            </a:r>
          </a:p>
          <a:p>
            <a:pPr marL="800100" lvl="1" indent="-342900">
              <a:buFont typeface="Wingdings" panose="05000000000000000000" pitchFamily="2" charset="2"/>
              <a:buChar char="Ø"/>
            </a:pPr>
            <a:r>
              <a:rPr lang="en-GB" sz="2400" b="0" i="0" dirty="0">
                <a:solidFill>
                  <a:srgbClr val="212121"/>
                </a:solidFill>
                <a:effectLst/>
                <a:latin typeface="Times New Roman" panose="02020603050405020304" pitchFamily="18" charset="0"/>
                <a:cs typeface="Times New Roman" panose="02020603050405020304" pitchFamily="18" charset="0"/>
              </a:rPr>
              <a:t>b1 = slope of the line</a:t>
            </a:r>
          </a:p>
          <a:p>
            <a:pPr marL="800100" lvl="1" indent="-342900">
              <a:buFont typeface="Wingdings" panose="05000000000000000000" pitchFamily="2" charset="2"/>
              <a:buChar char="Ø"/>
            </a:pPr>
            <a:r>
              <a:rPr lang="en-GB" sz="2400" dirty="0">
                <a:solidFill>
                  <a:srgbClr val="212121"/>
                </a:solidFill>
              </a:rPr>
              <a:t>ε</a:t>
            </a:r>
            <a:r>
              <a:rPr lang="en-GB" sz="2400" dirty="0">
                <a:solidFill>
                  <a:srgbClr val="212121"/>
                </a:solidFill>
                <a:latin typeface="Times New Roman" panose="02020603050405020304" pitchFamily="18" charset="0"/>
                <a:cs typeface="Times New Roman" panose="02020603050405020304" pitchFamily="18" charset="0"/>
              </a:rPr>
              <a:t> = error or residuals</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pic>
        <p:nvPicPr>
          <p:cNvPr id="1026" name="Picture 2" descr="Linear Regression in Machine learning - Javatpoint">
            <a:extLst>
              <a:ext uri="{FF2B5EF4-FFF2-40B4-BE49-F238E27FC236}">
                <a16:creationId xmlns:a16="http://schemas.microsoft.com/office/drawing/2014/main" id="{ED47C2A4-5933-4C08-98F3-F093F21BB5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0559" y="1613798"/>
            <a:ext cx="4625006" cy="462500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79AB240-4123-4AA0-89F5-2CAE8359C45A}"/>
              </a:ext>
            </a:extLst>
          </p:cNvPr>
          <p:cNvSpPr txBox="1"/>
          <p:nvPr/>
        </p:nvSpPr>
        <p:spPr>
          <a:xfrm>
            <a:off x="142875" y="6484293"/>
            <a:ext cx="6096000" cy="230832"/>
          </a:xfrm>
          <a:prstGeom prst="rect">
            <a:avLst/>
          </a:prstGeom>
          <a:noFill/>
        </p:spPr>
        <p:txBody>
          <a:bodyPr wrap="square">
            <a:spAutoFit/>
          </a:bodyPr>
          <a:lstStyle/>
          <a:p>
            <a:r>
              <a:rPr lang="en-IN" sz="900" dirty="0"/>
              <a:t>https://www.javatpoint.com/linear-regression-in-machine-learning</a:t>
            </a:r>
          </a:p>
        </p:txBody>
      </p:sp>
    </p:spTree>
    <p:extLst>
      <p:ext uri="{BB962C8B-B14F-4D97-AF65-F5344CB8AC3E}">
        <p14:creationId xmlns:p14="http://schemas.microsoft.com/office/powerpoint/2010/main" val="3211271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Error</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4C034A05-7FF5-462B-B888-AA1974FD148B}"/>
              </a:ext>
            </a:extLst>
          </p:cNvPr>
          <p:cNvSpPr txBox="1"/>
          <p:nvPr/>
        </p:nvSpPr>
        <p:spPr>
          <a:xfrm>
            <a:off x="2146852" y="5156626"/>
            <a:ext cx="8309114" cy="461665"/>
          </a:xfrm>
          <a:prstGeom prst="rect">
            <a:avLst/>
          </a:prstGeom>
          <a:noFill/>
        </p:spPr>
        <p:txBody>
          <a:bodyPr wrap="square">
            <a:spAutoFit/>
          </a:bodyPr>
          <a:lstStyle/>
          <a:p>
            <a:pPr algn="l"/>
            <a:r>
              <a:rPr lang="en-US" sz="2400" b="1" dirty="0">
                <a:solidFill>
                  <a:srgbClr val="000000"/>
                </a:solidFill>
                <a:latin typeface="Times New Roman" panose="02020603050405020304" pitchFamily="18" charset="0"/>
                <a:cs typeface="Times New Roman" panose="02020603050405020304" pitchFamily="18" charset="0"/>
              </a:rPr>
              <a:t>Error/Residual (e) = Observed value (Y) – Predicted Value (</a:t>
            </a:r>
            <a:r>
              <a:rPr lang="en-IN" sz="2400" b="1" i="0" dirty="0">
                <a:solidFill>
                  <a:srgbClr val="202122"/>
                </a:solidFill>
                <a:effectLst/>
                <a:latin typeface="Times New Roman" panose="02020603050405020304" pitchFamily="18" charset="0"/>
                <a:cs typeface="Times New Roman" panose="02020603050405020304" pitchFamily="18" charset="0"/>
              </a:rPr>
              <a:t>Ŷ</a:t>
            </a:r>
            <a:r>
              <a:rPr lang="en-US" sz="2400" b="1" dirty="0">
                <a:solidFill>
                  <a:srgbClr val="000000"/>
                </a:solidFill>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0E69E10C-8787-49E6-A20C-E548A280D217}"/>
              </a:ext>
            </a:extLst>
          </p:cNvPr>
          <p:cNvPicPr>
            <a:picLocks noChangeAspect="1"/>
          </p:cNvPicPr>
          <p:nvPr/>
        </p:nvPicPr>
        <p:blipFill rotWithShape="1">
          <a:blip r:embed="rId2"/>
          <a:srcRect l="54782" t="15056" r="9240" b="36999"/>
          <a:stretch/>
        </p:blipFill>
        <p:spPr>
          <a:xfrm>
            <a:off x="3902765" y="1510587"/>
            <a:ext cx="4386469" cy="3286539"/>
          </a:xfrm>
          <a:prstGeom prst="rect">
            <a:avLst/>
          </a:prstGeom>
        </p:spPr>
      </p:pic>
    </p:spTree>
    <p:extLst>
      <p:ext uri="{BB962C8B-B14F-4D97-AF65-F5344CB8AC3E}">
        <p14:creationId xmlns:p14="http://schemas.microsoft.com/office/powerpoint/2010/main" val="570715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Which line is the best line?</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pic>
        <p:nvPicPr>
          <p:cNvPr id="2050" name="Picture 2" descr="Which method is used to find the best fit line linear regression? - Quora">
            <a:extLst>
              <a:ext uri="{FF2B5EF4-FFF2-40B4-BE49-F238E27FC236}">
                <a16:creationId xmlns:a16="http://schemas.microsoft.com/office/drawing/2014/main" id="{CDAFDA21-03EA-4EB4-B6A9-A5F2D55FC0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0599" y="1541336"/>
            <a:ext cx="5735406" cy="365351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2FF4360-EC0F-4D72-9782-9861916E28DA}"/>
              </a:ext>
            </a:extLst>
          </p:cNvPr>
          <p:cNvSpPr txBox="1"/>
          <p:nvPr/>
        </p:nvSpPr>
        <p:spPr>
          <a:xfrm>
            <a:off x="142875" y="6468904"/>
            <a:ext cx="6096000" cy="246221"/>
          </a:xfrm>
          <a:prstGeom prst="rect">
            <a:avLst/>
          </a:prstGeom>
          <a:noFill/>
        </p:spPr>
        <p:txBody>
          <a:bodyPr wrap="square">
            <a:spAutoFit/>
          </a:bodyPr>
          <a:lstStyle/>
          <a:p>
            <a:r>
              <a:rPr lang="en-IN" sz="1000" dirty="0"/>
              <a:t>https://www.quora.com/Which-method-is-used-to-find-the-best-fit-line-linear-regression</a:t>
            </a:r>
          </a:p>
        </p:txBody>
      </p:sp>
    </p:spTree>
    <p:extLst>
      <p:ext uri="{BB962C8B-B14F-4D97-AF65-F5344CB8AC3E}">
        <p14:creationId xmlns:p14="http://schemas.microsoft.com/office/powerpoint/2010/main" val="93981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Ordinary Least Square (OLS)</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6" name="TextBox 5">
            <a:extLst>
              <a:ext uri="{FF2B5EF4-FFF2-40B4-BE49-F238E27FC236}">
                <a16:creationId xmlns:a16="http://schemas.microsoft.com/office/drawing/2014/main" id="{D2CFB697-25B7-44D0-9074-D181C2FE9DD2}"/>
              </a:ext>
            </a:extLst>
          </p:cNvPr>
          <p:cNvSpPr txBox="1"/>
          <p:nvPr/>
        </p:nvSpPr>
        <p:spPr>
          <a:xfrm>
            <a:off x="411163" y="1630363"/>
            <a:ext cx="5340280" cy="3785652"/>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Linear regression model tries to fit a </a:t>
            </a:r>
            <a:r>
              <a:rPr lang="en-US" sz="2400" b="1" i="0" dirty="0">
                <a:solidFill>
                  <a:srgbClr val="000000"/>
                </a:solidFill>
                <a:effectLst/>
                <a:latin typeface="Times New Roman" panose="02020603050405020304" pitchFamily="18" charset="0"/>
                <a:cs typeface="Times New Roman" panose="02020603050405020304" pitchFamily="18" charset="0"/>
              </a:rPr>
              <a:t>best fitting straight line </a:t>
            </a:r>
            <a:r>
              <a:rPr lang="en-US" sz="2400" i="0" dirty="0">
                <a:solidFill>
                  <a:srgbClr val="000000"/>
                </a:solidFill>
                <a:effectLst/>
                <a:latin typeface="Times New Roman" panose="02020603050405020304" pitchFamily="18" charset="0"/>
                <a:cs typeface="Times New Roman" panose="02020603050405020304" pitchFamily="18" charset="0"/>
              </a:rPr>
              <a:t>to describe the relationship between X and Y.</a:t>
            </a:r>
          </a:p>
          <a:p>
            <a:pPr marL="342900" indent="-342900" algn="l">
              <a:buFont typeface="Wingdings" panose="05000000000000000000" pitchFamily="2" charset="2"/>
              <a:buChar char="Ø"/>
            </a:pPr>
            <a:endParaRPr lang="en-US" sz="2400" b="0" dirty="0">
              <a:solidFill>
                <a:srgbClr val="00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i="0" dirty="0">
                <a:solidFill>
                  <a:srgbClr val="000000"/>
                </a:solidFill>
                <a:effectLst/>
                <a:latin typeface="Times New Roman" panose="02020603050405020304" pitchFamily="18" charset="0"/>
                <a:cs typeface="Times New Roman" panose="02020603050405020304" pitchFamily="18" charset="0"/>
              </a:rPr>
              <a:t>Line fitting is done on the basis of </a:t>
            </a:r>
            <a:r>
              <a:rPr lang="en-US" sz="2400" b="1" i="0" dirty="0">
                <a:solidFill>
                  <a:srgbClr val="000000"/>
                </a:solidFill>
                <a:effectLst/>
                <a:latin typeface="Times New Roman" panose="02020603050405020304" pitchFamily="18" charset="0"/>
                <a:cs typeface="Times New Roman" panose="02020603050405020304" pitchFamily="18" charset="0"/>
              </a:rPr>
              <a:t>ordinary least square</a:t>
            </a:r>
            <a:r>
              <a:rPr lang="en-US" sz="2400" i="0" dirty="0">
                <a:solidFill>
                  <a:srgbClr val="000000"/>
                </a:solidFill>
                <a:effectLst/>
                <a:latin typeface="Times New Roman" panose="02020603050405020304" pitchFamily="18" charset="0"/>
                <a:cs typeface="Times New Roman" panose="02020603050405020304" pitchFamily="18" charset="0"/>
              </a:rPr>
              <a:t>.</a:t>
            </a:r>
          </a:p>
          <a:p>
            <a:pPr marL="342900" indent="-342900" algn="l">
              <a:buFont typeface="Wingdings" panose="05000000000000000000" pitchFamily="2" charset="2"/>
              <a:buChar char="Ø"/>
            </a:pPr>
            <a:endParaRPr lang="en-US" sz="2400" b="0" dirty="0">
              <a:solidFill>
                <a:srgbClr val="00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dirty="0">
                <a:solidFill>
                  <a:srgbClr val="000000"/>
                </a:solidFill>
                <a:latin typeface="Times New Roman" panose="02020603050405020304" pitchFamily="18" charset="0"/>
                <a:cs typeface="Times New Roman" panose="02020603050405020304" pitchFamily="18" charset="0"/>
              </a:rPr>
              <a:t>Regression</a:t>
            </a:r>
            <a:r>
              <a:rPr lang="en-US" sz="2400" dirty="0">
                <a:solidFill>
                  <a:srgbClr val="000000"/>
                </a:solidFill>
                <a:latin typeface="Times New Roman" panose="02020603050405020304" pitchFamily="18" charset="0"/>
                <a:cs typeface="Times New Roman" panose="02020603050405020304" pitchFamily="18" charset="0"/>
              </a:rPr>
              <a:t> line fits best line through the data by </a:t>
            </a:r>
            <a:r>
              <a:rPr lang="en-US" sz="2400" b="1" dirty="0">
                <a:solidFill>
                  <a:srgbClr val="000000"/>
                </a:solidFill>
                <a:latin typeface="Times New Roman" panose="02020603050405020304" pitchFamily="18" charset="0"/>
                <a:cs typeface="Times New Roman" panose="02020603050405020304" pitchFamily="18" charset="0"/>
              </a:rPr>
              <a:t>minimizing the sum of squared errors.</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pic>
        <p:nvPicPr>
          <p:cNvPr id="10" name="Google Shape;310;p18">
            <a:extLst>
              <a:ext uri="{FF2B5EF4-FFF2-40B4-BE49-F238E27FC236}">
                <a16:creationId xmlns:a16="http://schemas.microsoft.com/office/drawing/2014/main" id="{67038A2A-E5E7-467B-9AE1-11EC293C8FCA}"/>
              </a:ext>
            </a:extLst>
          </p:cNvPr>
          <p:cNvPicPr preferRelativeResize="0"/>
          <p:nvPr/>
        </p:nvPicPr>
        <p:blipFill>
          <a:blip r:embed="rId2">
            <a:alphaModFix/>
          </a:blip>
          <a:stretch>
            <a:fillRect/>
          </a:stretch>
        </p:blipFill>
        <p:spPr>
          <a:xfrm>
            <a:off x="5830960" y="1562740"/>
            <a:ext cx="4309608" cy="3240825"/>
          </a:xfrm>
          <a:prstGeom prst="rect">
            <a:avLst/>
          </a:prstGeom>
          <a:noFill/>
          <a:ln>
            <a:noFill/>
          </a:ln>
        </p:spPr>
      </p:pic>
      <p:pic>
        <p:nvPicPr>
          <p:cNvPr id="11" name="Google Shape;311;p18">
            <a:extLst>
              <a:ext uri="{FF2B5EF4-FFF2-40B4-BE49-F238E27FC236}">
                <a16:creationId xmlns:a16="http://schemas.microsoft.com/office/drawing/2014/main" id="{DBFBEFBA-AB51-499B-B201-07F97703F7E2}"/>
              </a:ext>
            </a:extLst>
          </p:cNvPr>
          <p:cNvPicPr preferRelativeResize="0"/>
          <p:nvPr/>
        </p:nvPicPr>
        <p:blipFill>
          <a:blip r:embed="rId3">
            <a:alphaModFix/>
          </a:blip>
          <a:stretch>
            <a:fillRect/>
          </a:stretch>
        </p:blipFill>
        <p:spPr>
          <a:xfrm>
            <a:off x="9493698" y="4803565"/>
            <a:ext cx="2181467" cy="1288950"/>
          </a:xfrm>
          <a:prstGeom prst="rect">
            <a:avLst/>
          </a:prstGeom>
          <a:noFill/>
          <a:ln>
            <a:noFill/>
          </a:ln>
        </p:spPr>
      </p:pic>
      <p:sp>
        <p:nvSpPr>
          <p:cNvPr id="12" name="Google Shape;312;p18">
            <a:extLst>
              <a:ext uri="{FF2B5EF4-FFF2-40B4-BE49-F238E27FC236}">
                <a16:creationId xmlns:a16="http://schemas.microsoft.com/office/drawing/2014/main" id="{438E9A18-D0ED-4883-B09B-ADFA5E3B51F6}"/>
              </a:ext>
            </a:extLst>
          </p:cNvPr>
          <p:cNvSpPr txBox="1">
            <a:spLocks/>
          </p:cNvSpPr>
          <p:nvPr/>
        </p:nvSpPr>
        <p:spPr>
          <a:xfrm>
            <a:off x="7312231" y="5119841"/>
            <a:ext cx="2181467" cy="656397"/>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spcAft>
                <a:spcPts val="1600"/>
              </a:spcAft>
            </a:pPr>
            <a:r>
              <a:rPr lang="en-IN" sz="2000" b="1" i="1" dirty="0"/>
              <a:t>a</a:t>
            </a:r>
            <a:r>
              <a:rPr lang="en-IN" sz="2000" b="1" dirty="0"/>
              <a:t> </a:t>
            </a:r>
            <a:r>
              <a:rPr lang="en-IN" b="1" dirty="0"/>
              <a:t>= </a:t>
            </a:r>
            <a:r>
              <a:rPr lang="en-IN" sz="1600" b="1" dirty="0">
                <a:solidFill>
                  <a:srgbClr val="111111"/>
                </a:solidFill>
                <a:highlight>
                  <a:srgbClr val="FFFFFF"/>
                </a:highlight>
                <a:latin typeface="Arial"/>
                <a:ea typeface="Arial"/>
                <a:cs typeface="Arial"/>
                <a:sym typeface="Arial"/>
              </a:rPr>
              <a:t>y̅</a:t>
            </a:r>
            <a:r>
              <a:rPr lang="en-IN" b="1" dirty="0"/>
              <a:t>-</a:t>
            </a:r>
            <a:r>
              <a:rPr lang="en-IN" sz="1800" b="1" i="1" dirty="0"/>
              <a:t>b</a:t>
            </a:r>
            <a:r>
              <a:rPr lang="en-IN" sz="1600" b="1" dirty="0">
                <a:solidFill>
                  <a:srgbClr val="111111"/>
                </a:solidFill>
                <a:highlight>
                  <a:srgbClr val="FFFFFF"/>
                </a:highlight>
                <a:latin typeface="Arial"/>
                <a:ea typeface="Arial"/>
                <a:cs typeface="Arial"/>
                <a:sym typeface="Arial"/>
              </a:rPr>
              <a:t> x̅ </a:t>
            </a:r>
            <a:endParaRPr lang="en-IN" sz="2800" b="1" dirty="0"/>
          </a:p>
        </p:txBody>
      </p:sp>
    </p:spTree>
    <p:extLst>
      <p:ext uri="{BB962C8B-B14F-4D97-AF65-F5344CB8AC3E}">
        <p14:creationId xmlns:p14="http://schemas.microsoft.com/office/powerpoint/2010/main" val="3151096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Multiple Linear Regression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8" name="TextBox 7">
            <a:extLst>
              <a:ext uri="{FF2B5EF4-FFF2-40B4-BE49-F238E27FC236}">
                <a16:creationId xmlns:a16="http://schemas.microsoft.com/office/drawing/2014/main" id="{DEBAA237-285F-4688-AA2C-023920D42836}"/>
              </a:ext>
            </a:extLst>
          </p:cNvPr>
          <p:cNvSpPr txBox="1"/>
          <p:nvPr/>
        </p:nvSpPr>
        <p:spPr>
          <a:xfrm>
            <a:off x="411163" y="1630363"/>
            <a:ext cx="5340280" cy="3046988"/>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Relationship between a dependent variable with ‘</a:t>
            </a:r>
            <a:r>
              <a:rPr lang="en-US" sz="2400" b="1" i="0" dirty="0">
                <a:solidFill>
                  <a:srgbClr val="000000"/>
                </a:solidFill>
                <a:effectLst/>
                <a:latin typeface="Times New Roman" panose="02020603050405020304" pitchFamily="18" charset="0"/>
                <a:cs typeface="Times New Roman" panose="02020603050405020304" pitchFamily="18" charset="0"/>
              </a:rPr>
              <a:t>multiple</a:t>
            </a:r>
            <a:r>
              <a:rPr lang="en-US" sz="2400" b="0" i="0" dirty="0">
                <a:solidFill>
                  <a:srgbClr val="000000"/>
                </a:solidFill>
                <a:effectLst/>
                <a:latin typeface="Times New Roman" panose="02020603050405020304" pitchFamily="18" charset="0"/>
                <a:cs typeface="Times New Roman" panose="02020603050405020304" pitchFamily="18" charset="0"/>
              </a:rPr>
              <a:t>’ independent variables.</a:t>
            </a:r>
          </a:p>
          <a:p>
            <a:pPr marL="342900" indent="-342900" algn="l">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When one independent variable, its line, more than one its plane.</a:t>
            </a:r>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Y = a + b1X1 + b2X2 + … + </a:t>
            </a:r>
            <a:r>
              <a:rPr lang="en-US" sz="2400" b="0" i="0" dirty="0" err="1">
                <a:solidFill>
                  <a:srgbClr val="000000"/>
                </a:solidFill>
                <a:effectLst/>
                <a:latin typeface="Times New Roman" panose="02020603050405020304" pitchFamily="18" charset="0"/>
                <a:cs typeface="Times New Roman" panose="02020603050405020304" pitchFamily="18" charset="0"/>
              </a:rPr>
              <a:t>b</a:t>
            </a:r>
            <a:r>
              <a:rPr lang="en-US" sz="2400" b="0" i="0" baseline="-25000" dirty="0" err="1">
                <a:solidFill>
                  <a:srgbClr val="000000"/>
                </a:solidFill>
                <a:effectLst/>
                <a:latin typeface="Times New Roman" panose="02020603050405020304" pitchFamily="18" charset="0"/>
                <a:cs typeface="Times New Roman" panose="02020603050405020304" pitchFamily="18" charset="0"/>
              </a:rPr>
              <a:t>k</a:t>
            </a:r>
            <a:r>
              <a:rPr lang="en-US" sz="2400" b="0" i="0" dirty="0" err="1">
                <a:solidFill>
                  <a:srgbClr val="000000"/>
                </a:solidFill>
                <a:effectLst/>
                <a:latin typeface="Times New Roman" panose="02020603050405020304" pitchFamily="18" charset="0"/>
                <a:cs typeface="Times New Roman" panose="02020603050405020304" pitchFamily="18" charset="0"/>
              </a:rPr>
              <a:t>X</a:t>
            </a:r>
            <a:r>
              <a:rPr lang="en-US" sz="2400" b="0" i="0" baseline="-25000" dirty="0" err="1">
                <a:solidFill>
                  <a:srgbClr val="000000"/>
                </a:solidFill>
                <a:effectLst/>
                <a:latin typeface="Times New Roman" panose="02020603050405020304" pitchFamily="18" charset="0"/>
                <a:cs typeface="Times New Roman" panose="02020603050405020304" pitchFamily="18" charset="0"/>
              </a:rPr>
              <a:t>k</a:t>
            </a:r>
            <a:r>
              <a:rPr lang="en-US" sz="2400" b="0" i="0" dirty="0">
                <a:solidFill>
                  <a:srgbClr val="000000"/>
                </a:solidFill>
                <a:effectLst/>
                <a:latin typeface="Times New Roman" panose="02020603050405020304" pitchFamily="18" charset="0"/>
                <a:cs typeface="Times New Roman" panose="02020603050405020304" pitchFamily="18" charset="0"/>
              </a:rPr>
              <a:t> + </a:t>
            </a:r>
            <a:r>
              <a:rPr lang="en-GB" sz="2400" dirty="0">
                <a:solidFill>
                  <a:srgbClr val="212121"/>
                </a:solidFill>
              </a:rPr>
              <a:t>ε</a:t>
            </a:r>
          </a:p>
          <a:p>
            <a:pPr marL="800100" lvl="1" indent="-342900">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pic>
        <p:nvPicPr>
          <p:cNvPr id="3074" name="Picture 2" descr="r - scatterplot3d: regression plane with residuals - Stack Overflow">
            <a:extLst>
              <a:ext uri="{FF2B5EF4-FFF2-40B4-BE49-F238E27FC236}">
                <a16:creationId xmlns:a16="http://schemas.microsoft.com/office/drawing/2014/main" id="{131B5183-D797-4A3D-8DC7-AAA90005E5A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5155"/>
          <a:stretch/>
        </p:blipFill>
        <p:spPr bwMode="auto">
          <a:xfrm>
            <a:off x="5751443" y="1540399"/>
            <a:ext cx="6174686" cy="264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352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Model Evaluation (R</a:t>
            </a:r>
            <a:r>
              <a:rPr lang="en-US" sz="3200" b="1" baseline="30000" dirty="0">
                <a:solidFill>
                  <a:schemeClr val="tx1"/>
                </a:solidFill>
                <a:latin typeface="Times New Roman" pitchFamily="18" charset="0"/>
                <a:cs typeface="Times New Roman" pitchFamily="18" charset="0"/>
              </a:rPr>
              <a:t>2</a:t>
            </a:r>
            <a:r>
              <a:rPr lang="en-US" sz="3200" b="1" dirty="0">
                <a:solidFill>
                  <a:schemeClr val="tx1"/>
                </a:solidFill>
                <a:latin typeface="Times New Roman" pitchFamily="18" charset="0"/>
                <a:cs typeface="Times New Roman" pitchFamily="18" charset="0"/>
              </a:rPr>
              <a:t> value)</a:t>
            </a:r>
            <a:endParaRPr lang="en-US" sz="3200" b="1" baseline="30000"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8" name="TextBox 7">
            <a:extLst>
              <a:ext uri="{FF2B5EF4-FFF2-40B4-BE49-F238E27FC236}">
                <a16:creationId xmlns:a16="http://schemas.microsoft.com/office/drawing/2014/main" id="{DEBAA237-285F-4688-AA2C-023920D42836}"/>
              </a:ext>
            </a:extLst>
          </p:cNvPr>
          <p:cNvSpPr txBox="1"/>
          <p:nvPr/>
        </p:nvSpPr>
        <p:spPr>
          <a:xfrm>
            <a:off x="411162" y="1630363"/>
            <a:ext cx="6440211" cy="3416320"/>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Regression will best line.</a:t>
            </a:r>
          </a:p>
          <a:p>
            <a:pPr marL="342900" indent="-342900" algn="l">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R-squared (R</a:t>
            </a:r>
            <a:r>
              <a:rPr lang="en-US" sz="2400" baseline="30000" dirty="0">
                <a:solidFill>
                  <a:srgbClr val="000000"/>
                </a:solidFill>
                <a:latin typeface="Times New Roman" panose="02020603050405020304" pitchFamily="18" charset="0"/>
                <a:cs typeface="Times New Roman" panose="02020603050405020304" pitchFamily="18" charset="0"/>
              </a:rPr>
              <a:t>2</a:t>
            </a:r>
            <a:r>
              <a:rPr lang="en-US" sz="2400" dirty="0">
                <a:solidFill>
                  <a:srgbClr val="000000"/>
                </a:solidFill>
                <a:latin typeface="Times New Roman" panose="02020603050405020304" pitchFamily="18" charset="0"/>
                <a:cs typeface="Times New Roman" panose="02020603050405020304" pitchFamily="18" charset="0"/>
              </a:rPr>
              <a:t>), also known as </a:t>
            </a:r>
            <a:r>
              <a:rPr lang="en-US" sz="2400" b="1" dirty="0">
                <a:solidFill>
                  <a:srgbClr val="000000"/>
                </a:solidFill>
                <a:latin typeface="Times New Roman" panose="02020603050405020304" pitchFamily="18" charset="0"/>
                <a:cs typeface="Times New Roman" panose="02020603050405020304" pitchFamily="18" charset="0"/>
              </a:rPr>
              <a:t>coefficient of determination</a:t>
            </a:r>
            <a:r>
              <a:rPr lang="en-US" sz="2400" dirty="0">
                <a:solidFill>
                  <a:srgbClr val="000000"/>
                </a:solidFill>
                <a:latin typeface="Times New Roman" panose="02020603050405020304" pitchFamily="18" charset="0"/>
                <a:cs typeface="Times New Roman" panose="02020603050405020304" pitchFamily="18" charset="0"/>
              </a:rPr>
              <a:t>, is used for model evaluation.</a:t>
            </a:r>
          </a:p>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Ranges between 0 and 1. Higher the value higher the variability predicted.</a:t>
            </a:r>
          </a:p>
          <a:p>
            <a:pPr marL="342900" indent="-342900" algn="l">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It tells how much the variability in Y explained by taking in X into account.</a:t>
            </a:r>
          </a:p>
          <a:p>
            <a:pPr algn="l"/>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1" i="0" dirty="0">
                <a:solidFill>
                  <a:srgbClr val="000000"/>
                </a:solidFill>
                <a:effectLst/>
                <a:latin typeface="Times New Roman" panose="02020603050405020304" pitchFamily="18" charset="0"/>
                <a:cs typeface="Times New Roman" panose="02020603050405020304" pitchFamily="18" charset="0"/>
              </a:rPr>
              <a:t>ONLY used for simple linea</a:t>
            </a:r>
            <a:r>
              <a:rPr lang="en-US" sz="2400" b="1" dirty="0">
                <a:solidFill>
                  <a:srgbClr val="000000"/>
                </a:solidFill>
                <a:latin typeface="Times New Roman" panose="02020603050405020304" pitchFamily="18" charset="0"/>
                <a:cs typeface="Times New Roman" panose="02020603050405020304" pitchFamily="18" charset="0"/>
              </a:rPr>
              <a:t>r regression.</a:t>
            </a:r>
            <a:endParaRPr lang="en-US" sz="2400" b="1" i="0" dirty="0">
              <a:solidFill>
                <a:srgbClr val="000000"/>
              </a:solidFill>
              <a:effectLst/>
              <a:latin typeface="Times New Roman" panose="02020603050405020304" pitchFamily="18" charset="0"/>
              <a:cs typeface="Times New Roman" panose="02020603050405020304" pitchFamily="18" charset="0"/>
            </a:endParaRPr>
          </a:p>
        </p:txBody>
      </p:sp>
      <p:pic>
        <p:nvPicPr>
          <p:cNvPr id="7" name="Google Shape;326;p20">
            <a:extLst>
              <a:ext uri="{FF2B5EF4-FFF2-40B4-BE49-F238E27FC236}">
                <a16:creationId xmlns:a16="http://schemas.microsoft.com/office/drawing/2014/main" id="{B402C912-0E0E-4D79-B9B8-370DD0C3D57C}"/>
              </a:ext>
            </a:extLst>
          </p:cNvPr>
          <p:cNvPicPr preferRelativeResize="0"/>
          <p:nvPr/>
        </p:nvPicPr>
        <p:blipFill>
          <a:blip r:embed="rId2">
            <a:alphaModFix/>
          </a:blip>
          <a:stretch>
            <a:fillRect/>
          </a:stretch>
        </p:blipFill>
        <p:spPr>
          <a:xfrm>
            <a:off x="6851373" y="1630363"/>
            <a:ext cx="4797288" cy="2677656"/>
          </a:xfrm>
          <a:prstGeom prst="rect">
            <a:avLst/>
          </a:prstGeom>
          <a:noFill/>
          <a:ln>
            <a:noFill/>
          </a:ln>
        </p:spPr>
      </p:pic>
      <p:pic>
        <p:nvPicPr>
          <p:cNvPr id="9" name="Google Shape;329;p20">
            <a:extLst>
              <a:ext uri="{FF2B5EF4-FFF2-40B4-BE49-F238E27FC236}">
                <a16:creationId xmlns:a16="http://schemas.microsoft.com/office/drawing/2014/main" id="{98272A19-2ECA-4250-BB10-5ED1D698E8B6}"/>
              </a:ext>
            </a:extLst>
          </p:cNvPr>
          <p:cNvPicPr preferRelativeResize="0"/>
          <p:nvPr/>
        </p:nvPicPr>
        <p:blipFill>
          <a:blip r:embed="rId3">
            <a:alphaModFix/>
          </a:blip>
          <a:stretch>
            <a:fillRect/>
          </a:stretch>
        </p:blipFill>
        <p:spPr>
          <a:xfrm>
            <a:off x="7571114" y="4677351"/>
            <a:ext cx="3242659" cy="1259623"/>
          </a:xfrm>
          <a:prstGeom prst="rect">
            <a:avLst/>
          </a:prstGeom>
          <a:noFill/>
          <a:ln>
            <a:noFill/>
          </a:ln>
        </p:spPr>
      </p:pic>
    </p:spTree>
    <p:extLst>
      <p:ext uri="{BB962C8B-B14F-4D97-AF65-F5344CB8AC3E}">
        <p14:creationId xmlns:p14="http://schemas.microsoft.com/office/powerpoint/2010/main" val="145827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Adjusted R</a:t>
            </a:r>
            <a:r>
              <a:rPr lang="en-US" sz="3200" b="1" baseline="30000" dirty="0">
                <a:solidFill>
                  <a:schemeClr val="tx1"/>
                </a:solidFill>
                <a:latin typeface="Times New Roman" pitchFamily="18" charset="0"/>
                <a:cs typeface="Times New Roman" pitchFamily="18" charset="0"/>
              </a:rPr>
              <a:t>2</a:t>
            </a:r>
            <a:r>
              <a:rPr lang="en-US" sz="3200" b="1" dirty="0">
                <a:solidFill>
                  <a:schemeClr val="tx1"/>
                </a:solidFill>
                <a:latin typeface="Times New Roman" pitchFamily="18" charset="0"/>
                <a:cs typeface="Times New Roman" pitchFamily="18" charset="0"/>
              </a:rPr>
              <a:t> value</a:t>
            </a:r>
            <a:endParaRPr lang="en-US" sz="3200" b="1" baseline="30000"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8" name="TextBox 7">
            <a:extLst>
              <a:ext uri="{FF2B5EF4-FFF2-40B4-BE49-F238E27FC236}">
                <a16:creationId xmlns:a16="http://schemas.microsoft.com/office/drawing/2014/main" id="{DEBAA237-285F-4688-AA2C-023920D42836}"/>
              </a:ext>
            </a:extLst>
          </p:cNvPr>
          <p:cNvSpPr txBox="1"/>
          <p:nvPr/>
        </p:nvSpPr>
        <p:spPr>
          <a:xfrm>
            <a:off x="411162" y="1630363"/>
            <a:ext cx="6440211" cy="3416320"/>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Adding more independent variable increase the R</a:t>
            </a:r>
            <a:r>
              <a:rPr lang="en-US" sz="2400" b="0" i="0" baseline="30000" dirty="0">
                <a:solidFill>
                  <a:srgbClr val="000000"/>
                </a:solidFill>
                <a:effectLst/>
                <a:latin typeface="Times New Roman" panose="02020603050405020304" pitchFamily="18" charset="0"/>
                <a:cs typeface="Times New Roman" panose="02020603050405020304" pitchFamily="18" charset="0"/>
              </a:rPr>
              <a:t>2</a:t>
            </a:r>
            <a:r>
              <a:rPr lang="en-US" sz="2400" b="0" i="0" dirty="0">
                <a:solidFill>
                  <a:srgbClr val="000000"/>
                </a:solidFill>
                <a:effectLst/>
                <a:latin typeface="Times New Roman" panose="02020603050405020304" pitchFamily="18" charset="0"/>
                <a:cs typeface="Times New Roman" panose="02020603050405020304" pitchFamily="18" charset="0"/>
              </a:rPr>
              <a:t> value, even if it by chance or variable is unnecessary</a:t>
            </a:r>
            <a:r>
              <a:rPr lang="en-US" sz="2400" dirty="0">
                <a:solidFill>
                  <a:srgbClr val="000000"/>
                </a:solidFill>
                <a:latin typeface="Times New Roman" panose="02020603050405020304" pitchFamily="18" charset="0"/>
                <a:cs typeface="Times New Roman" panose="02020603050405020304" pitchFamily="18" charset="0"/>
              </a:rPr>
              <a:t>.</a:t>
            </a:r>
          </a:p>
          <a:p>
            <a:pPr marL="342900" indent="-342900" algn="l">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Hence, we modify the R</a:t>
            </a:r>
            <a:r>
              <a:rPr lang="en-US" sz="2400" baseline="30000" dirty="0">
                <a:solidFill>
                  <a:srgbClr val="000000"/>
                </a:solidFill>
                <a:latin typeface="Times New Roman" panose="02020603050405020304" pitchFamily="18" charset="0"/>
                <a:cs typeface="Times New Roman" panose="02020603050405020304" pitchFamily="18" charset="0"/>
              </a:rPr>
              <a:t>2</a:t>
            </a:r>
            <a:r>
              <a:rPr lang="en-US" sz="2400" dirty="0">
                <a:solidFill>
                  <a:srgbClr val="000000"/>
                </a:solidFill>
                <a:latin typeface="Times New Roman" panose="02020603050405020304" pitchFamily="18" charset="0"/>
                <a:cs typeface="Times New Roman" panose="02020603050405020304" pitchFamily="18" charset="0"/>
              </a:rPr>
              <a:t> value by penalizing it by adding additional independent variable.</a:t>
            </a:r>
          </a:p>
          <a:p>
            <a:pPr marL="342900" indent="-342900" algn="l">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A model with higher adjusted R2 value is preferred in ML.</a:t>
            </a:r>
          </a:p>
          <a:p>
            <a:pPr marL="342900" indent="-342900" algn="l">
              <a:buFont typeface="Wingdings" panose="05000000000000000000" pitchFamily="2" charset="2"/>
              <a:buChar char="Ø"/>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1" i="0" dirty="0">
                <a:solidFill>
                  <a:srgbClr val="000000"/>
                </a:solidFill>
                <a:effectLst/>
                <a:latin typeface="Times New Roman" panose="02020603050405020304" pitchFamily="18" charset="0"/>
                <a:cs typeface="Times New Roman" panose="02020603050405020304" pitchFamily="18" charset="0"/>
              </a:rPr>
              <a:t>ONLY used for multiple linea</a:t>
            </a:r>
            <a:r>
              <a:rPr lang="en-US" sz="2400" b="1" dirty="0">
                <a:solidFill>
                  <a:srgbClr val="000000"/>
                </a:solidFill>
                <a:latin typeface="Times New Roman" panose="02020603050405020304" pitchFamily="18" charset="0"/>
                <a:cs typeface="Times New Roman" panose="02020603050405020304" pitchFamily="18" charset="0"/>
              </a:rPr>
              <a:t>r regression.</a:t>
            </a:r>
            <a:endParaRPr lang="en-US" sz="2400" b="1" i="0" dirty="0">
              <a:solidFill>
                <a:srgbClr val="000000"/>
              </a:solidFill>
              <a:effectLst/>
              <a:latin typeface="Times New Roman" panose="02020603050405020304" pitchFamily="18" charset="0"/>
              <a:cs typeface="Times New Roman" panose="02020603050405020304" pitchFamily="18" charset="0"/>
            </a:endParaRPr>
          </a:p>
        </p:txBody>
      </p:sp>
      <p:pic>
        <p:nvPicPr>
          <p:cNvPr id="7" name="Google Shape;326;p20">
            <a:extLst>
              <a:ext uri="{FF2B5EF4-FFF2-40B4-BE49-F238E27FC236}">
                <a16:creationId xmlns:a16="http://schemas.microsoft.com/office/drawing/2014/main" id="{B402C912-0E0E-4D79-B9B8-370DD0C3D57C}"/>
              </a:ext>
            </a:extLst>
          </p:cNvPr>
          <p:cNvPicPr preferRelativeResize="0"/>
          <p:nvPr/>
        </p:nvPicPr>
        <p:blipFill>
          <a:blip r:embed="rId2">
            <a:alphaModFix/>
          </a:blip>
          <a:stretch>
            <a:fillRect/>
          </a:stretch>
        </p:blipFill>
        <p:spPr>
          <a:xfrm>
            <a:off x="6851373" y="1630363"/>
            <a:ext cx="4797288" cy="2677656"/>
          </a:xfrm>
          <a:prstGeom prst="rect">
            <a:avLst/>
          </a:prstGeom>
          <a:noFill/>
          <a:ln>
            <a:noFill/>
          </a:ln>
        </p:spPr>
      </p:pic>
      <p:pic>
        <p:nvPicPr>
          <p:cNvPr id="9" name="Google Shape;327;p20">
            <a:extLst>
              <a:ext uri="{FF2B5EF4-FFF2-40B4-BE49-F238E27FC236}">
                <a16:creationId xmlns:a16="http://schemas.microsoft.com/office/drawing/2014/main" id="{6A24FC2C-3901-4FC1-A529-79A0D17EAD59}"/>
              </a:ext>
            </a:extLst>
          </p:cNvPr>
          <p:cNvPicPr preferRelativeResize="0"/>
          <p:nvPr/>
        </p:nvPicPr>
        <p:blipFill rotWithShape="1">
          <a:blip r:embed="rId3">
            <a:alphaModFix/>
          </a:blip>
          <a:srcRect l="1669" t="7141" r="3460" b="-77"/>
          <a:stretch/>
        </p:blipFill>
        <p:spPr>
          <a:xfrm>
            <a:off x="7119660" y="4456071"/>
            <a:ext cx="3972410" cy="2010989"/>
          </a:xfrm>
          <a:prstGeom prst="rect">
            <a:avLst/>
          </a:prstGeom>
          <a:noFill/>
          <a:ln>
            <a:noFill/>
          </a:ln>
        </p:spPr>
      </p:pic>
    </p:spTree>
    <p:extLst>
      <p:ext uri="{BB962C8B-B14F-4D97-AF65-F5344CB8AC3E}">
        <p14:creationId xmlns:p14="http://schemas.microsoft.com/office/powerpoint/2010/main" val="2997588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Cost functions for Regression</a:t>
            </a:r>
            <a:endParaRPr lang="en-US" sz="3200" b="1" baseline="30000"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8" name="TextBox 7">
            <a:extLst>
              <a:ext uri="{FF2B5EF4-FFF2-40B4-BE49-F238E27FC236}">
                <a16:creationId xmlns:a16="http://schemas.microsoft.com/office/drawing/2014/main" id="{DEBAA237-285F-4688-AA2C-023920D42836}"/>
              </a:ext>
            </a:extLst>
          </p:cNvPr>
          <p:cNvSpPr txBox="1"/>
          <p:nvPr/>
        </p:nvSpPr>
        <p:spPr>
          <a:xfrm>
            <a:off x="411162" y="1630363"/>
            <a:ext cx="11343516" cy="3785652"/>
          </a:xfrm>
          <a:prstGeom prst="rect">
            <a:avLst/>
          </a:prstGeom>
          <a:noFill/>
        </p:spPr>
        <p:txBody>
          <a:bodyPr wrap="square">
            <a:spAutoFit/>
          </a:bodyPr>
          <a:lstStyle/>
          <a:p>
            <a:pPr algn="l"/>
            <a:r>
              <a:rPr lang="en-US" sz="2000" b="1" i="0" dirty="0">
                <a:solidFill>
                  <a:srgbClr val="000000"/>
                </a:solidFill>
                <a:effectLst/>
                <a:latin typeface="Times New Roman" panose="02020603050405020304" pitchFamily="18" charset="0"/>
                <a:cs typeface="Times New Roman" panose="02020603050405020304" pitchFamily="18" charset="0"/>
              </a:rPr>
              <a:t>Three common evaluation matrix for regression models:</a:t>
            </a:r>
          </a:p>
          <a:p>
            <a:pPr marL="342900" indent="-342900" algn="l">
              <a:buFont typeface="Wingdings" panose="05000000000000000000" pitchFamily="2" charset="2"/>
              <a:buChar char="Ø"/>
            </a:pPr>
            <a:r>
              <a:rPr lang="en-US" sz="2000" b="1" dirty="0">
                <a:solidFill>
                  <a:srgbClr val="000000"/>
                </a:solidFill>
                <a:latin typeface="Times New Roman" panose="02020603050405020304" pitchFamily="18" charset="0"/>
                <a:cs typeface="Times New Roman" panose="02020603050405020304" pitchFamily="18" charset="0"/>
              </a:rPr>
              <a:t>Mean Absolute Error</a:t>
            </a:r>
          </a:p>
          <a:p>
            <a:pPr algn="l"/>
            <a:endParaRPr lang="en-US" sz="2000" b="1" dirty="0">
              <a:solidFill>
                <a:srgbClr val="000000"/>
              </a:solidFill>
              <a:latin typeface="Times New Roman" panose="02020603050405020304" pitchFamily="18" charset="0"/>
              <a:cs typeface="Times New Roman" panose="02020603050405020304" pitchFamily="18" charset="0"/>
            </a:endParaRPr>
          </a:p>
          <a:p>
            <a:pPr algn="l"/>
            <a:endParaRPr lang="en-US" sz="2000" b="1" dirty="0">
              <a:solidFill>
                <a:srgbClr val="000000"/>
              </a:solidFill>
              <a:latin typeface="Times New Roman" panose="02020603050405020304" pitchFamily="18" charset="0"/>
              <a:cs typeface="Times New Roman" panose="02020603050405020304" pitchFamily="18" charset="0"/>
            </a:endParaRPr>
          </a:p>
          <a:p>
            <a:pPr algn="l"/>
            <a:endParaRPr lang="en-US" sz="2000" b="1" dirty="0">
              <a:solidFill>
                <a:srgbClr val="000000"/>
              </a:solidFill>
              <a:latin typeface="Times New Roman" panose="02020603050405020304" pitchFamily="18" charset="0"/>
              <a:cs typeface="Times New Roman" panose="02020603050405020304" pitchFamily="18" charset="0"/>
            </a:endParaRPr>
          </a:p>
          <a:p>
            <a:pPr algn="l"/>
            <a:endParaRPr lang="en-US" sz="2000" b="1" dirty="0">
              <a:solidFill>
                <a:srgbClr val="00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000" b="1" i="0" dirty="0">
                <a:solidFill>
                  <a:srgbClr val="000000"/>
                </a:solidFill>
                <a:effectLst/>
                <a:latin typeface="Times New Roman" panose="02020603050405020304" pitchFamily="18" charset="0"/>
                <a:cs typeface="Times New Roman" panose="02020603050405020304" pitchFamily="18" charset="0"/>
              </a:rPr>
              <a:t>Mean Squared Error</a:t>
            </a:r>
          </a:p>
          <a:p>
            <a:pPr marL="342900" indent="-342900" algn="l">
              <a:buFont typeface="Wingdings" panose="05000000000000000000" pitchFamily="2" charset="2"/>
              <a:buChar char="Ø"/>
            </a:pPr>
            <a:endParaRPr lang="en-US" sz="2000" b="1" dirty="0">
              <a:solidFill>
                <a:srgbClr val="00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US" sz="2000" b="1" dirty="0">
              <a:solidFill>
                <a:srgbClr val="000000"/>
              </a:solidFill>
              <a:latin typeface="Times New Roman" panose="02020603050405020304" pitchFamily="18" charset="0"/>
              <a:cs typeface="Times New Roman" panose="02020603050405020304" pitchFamily="18" charset="0"/>
            </a:endParaRPr>
          </a:p>
          <a:p>
            <a:pPr algn="l"/>
            <a:endParaRPr lang="en-US" sz="2000" b="1" i="0" dirty="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i="0" dirty="0">
                <a:solidFill>
                  <a:srgbClr val="000000"/>
                </a:solidFill>
                <a:effectLst/>
                <a:latin typeface="Times New Roman" panose="02020603050405020304" pitchFamily="18" charset="0"/>
                <a:cs typeface="Times New Roman" panose="02020603050405020304" pitchFamily="18" charset="0"/>
              </a:rPr>
              <a:t>Root Mean Squared Error</a:t>
            </a:r>
          </a:p>
          <a:p>
            <a:pPr marL="342900" indent="-342900" algn="l">
              <a:buFont typeface="Wingdings" panose="05000000000000000000" pitchFamily="2" charset="2"/>
              <a:buChar char="Ø"/>
            </a:pPr>
            <a:endParaRPr lang="en-US" sz="2000" b="1" i="0" dirty="0">
              <a:solidFill>
                <a:srgbClr val="000000"/>
              </a:solidFill>
              <a:effectLst/>
              <a:latin typeface="Times New Roman" panose="02020603050405020304" pitchFamily="18" charset="0"/>
              <a:cs typeface="Times New Roman" panose="02020603050405020304" pitchFamily="18" charset="0"/>
            </a:endParaRPr>
          </a:p>
        </p:txBody>
      </p:sp>
      <p:pic>
        <p:nvPicPr>
          <p:cNvPr id="11" name="Google Shape;328;p44">
            <a:extLst>
              <a:ext uri="{FF2B5EF4-FFF2-40B4-BE49-F238E27FC236}">
                <a16:creationId xmlns:a16="http://schemas.microsoft.com/office/drawing/2014/main" id="{92797308-F3E7-4B67-A68D-D5CA3D56F9F6}"/>
              </a:ext>
            </a:extLst>
          </p:cNvPr>
          <p:cNvPicPr preferRelativeResize="0"/>
          <p:nvPr/>
        </p:nvPicPr>
        <p:blipFill>
          <a:blip r:embed="rId2">
            <a:alphaModFix/>
          </a:blip>
          <a:stretch>
            <a:fillRect/>
          </a:stretch>
        </p:blipFill>
        <p:spPr>
          <a:xfrm>
            <a:off x="5396325" y="2186609"/>
            <a:ext cx="3098318" cy="887896"/>
          </a:xfrm>
          <a:prstGeom prst="rect">
            <a:avLst/>
          </a:prstGeom>
          <a:noFill/>
          <a:ln>
            <a:noFill/>
          </a:ln>
        </p:spPr>
      </p:pic>
      <p:pic>
        <p:nvPicPr>
          <p:cNvPr id="12" name="Google Shape;329;p44">
            <a:extLst>
              <a:ext uri="{FF2B5EF4-FFF2-40B4-BE49-F238E27FC236}">
                <a16:creationId xmlns:a16="http://schemas.microsoft.com/office/drawing/2014/main" id="{BD8AE314-06A1-4288-BB5A-6B2945369C21}"/>
              </a:ext>
            </a:extLst>
          </p:cNvPr>
          <p:cNvPicPr preferRelativeResize="0"/>
          <p:nvPr/>
        </p:nvPicPr>
        <p:blipFill>
          <a:blip r:embed="rId3">
            <a:alphaModFix/>
          </a:blip>
          <a:stretch>
            <a:fillRect/>
          </a:stretch>
        </p:blipFill>
        <p:spPr>
          <a:xfrm>
            <a:off x="5396325" y="3630751"/>
            <a:ext cx="3098318" cy="887896"/>
          </a:xfrm>
          <a:prstGeom prst="rect">
            <a:avLst/>
          </a:prstGeom>
          <a:noFill/>
          <a:ln>
            <a:noFill/>
          </a:ln>
        </p:spPr>
      </p:pic>
      <p:pic>
        <p:nvPicPr>
          <p:cNvPr id="13" name="Google Shape;330;p44">
            <a:extLst>
              <a:ext uri="{FF2B5EF4-FFF2-40B4-BE49-F238E27FC236}">
                <a16:creationId xmlns:a16="http://schemas.microsoft.com/office/drawing/2014/main" id="{8ED75D95-B273-4191-98DD-3C7A346D6C0C}"/>
              </a:ext>
            </a:extLst>
          </p:cNvPr>
          <p:cNvPicPr preferRelativeResize="0"/>
          <p:nvPr/>
        </p:nvPicPr>
        <p:blipFill>
          <a:blip r:embed="rId4">
            <a:alphaModFix/>
          </a:blip>
          <a:stretch>
            <a:fillRect/>
          </a:stretch>
        </p:blipFill>
        <p:spPr>
          <a:xfrm>
            <a:off x="5396325" y="5164820"/>
            <a:ext cx="3098318" cy="807441"/>
          </a:xfrm>
          <a:prstGeom prst="rect">
            <a:avLst/>
          </a:prstGeom>
          <a:noFill/>
          <a:ln>
            <a:noFill/>
          </a:ln>
        </p:spPr>
      </p:pic>
    </p:spTree>
    <p:extLst>
      <p:ext uri="{BB962C8B-B14F-4D97-AF65-F5344CB8AC3E}">
        <p14:creationId xmlns:p14="http://schemas.microsoft.com/office/powerpoint/2010/main" val="495166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Comparing Matrix</a:t>
            </a:r>
            <a:endParaRPr lang="en-US" sz="3200" b="1" baseline="30000"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8" name="TextBox 7">
            <a:extLst>
              <a:ext uri="{FF2B5EF4-FFF2-40B4-BE49-F238E27FC236}">
                <a16:creationId xmlns:a16="http://schemas.microsoft.com/office/drawing/2014/main" id="{DEBAA237-285F-4688-AA2C-023920D42836}"/>
              </a:ext>
            </a:extLst>
          </p:cNvPr>
          <p:cNvSpPr txBox="1"/>
          <p:nvPr/>
        </p:nvSpPr>
        <p:spPr>
          <a:xfrm>
            <a:off x="411162" y="1630363"/>
            <a:ext cx="11343516" cy="3865161"/>
          </a:xfrm>
          <a:prstGeom prst="rect">
            <a:avLst/>
          </a:prstGeom>
          <a:noFill/>
        </p:spPr>
        <p:txBody>
          <a:bodyPr wrap="square">
            <a:spAutoFit/>
          </a:bodyPr>
          <a:lstStyle/>
          <a:p>
            <a:pPr marL="457200" lvl="0" indent="-342900" algn="l" rtl="0">
              <a:spcBef>
                <a:spcPts val="600"/>
              </a:spcBef>
              <a:spcAft>
                <a:spcPts val="0"/>
              </a:spcAft>
              <a:buClr>
                <a:srgbClr val="212121"/>
              </a:buClr>
              <a:buSzPts val="1800"/>
              <a:buFont typeface="Wingdings" panose="05000000000000000000" pitchFamily="2" charset="2"/>
              <a:buChar char="Ø"/>
            </a:pPr>
            <a:r>
              <a:rPr lang="en-US" sz="2400" b="1" dirty="0">
                <a:solidFill>
                  <a:srgbClr val="212121"/>
                </a:solidFill>
                <a:latin typeface="Times New Roman" panose="02020603050405020304" pitchFamily="18" charset="0"/>
                <a:cs typeface="Times New Roman" panose="02020603050405020304" pitchFamily="18" charset="0"/>
              </a:rPr>
              <a:t>MAE</a:t>
            </a:r>
            <a:r>
              <a:rPr lang="en-US" sz="2400" dirty="0">
                <a:solidFill>
                  <a:srgbClr val="212121"/>
                </a:solidFill>
                <a:latin typeface="Times New Roman" panose="02020603050405020304" pitchFamily="18" charset="0"/>
                <a:cs typeface="Times New Roman" panose="02020603050405020304" pitchFamily="18" charset="0"/>
              </a:rPr>
              <a:t> is the easiest to understand, because it's the average error.</a:t>
            </a:r>
          </a:p>
          <a:p>
            <a:pPr marL="457200" lvl="0" indent="-342900" algn="l" rtl="0">
              <a:spcBef>
                <a:spcPts val="600"/>
              </a:spcBef>
              <a:spcAft>
                <a:spcPts val="0"/>
              </a:spcAft>
              <a:buClr>
                <a:srgbClr val="212121"/>
              </a:buClr>
              <a:buSzPts val="1800"/>
              <a:buFont typeface="Wingdings" panose="05000000000000000000" pitchFamily="2" charset="2"/>
              <a:buChar char="Ø"/>
            </a:pPr>
            <a:endParaRPr lang="en-US" sz="2400" dirty="0">
              <a:solidFill>
                <a:srgbClr val="212121"/>
              </a:solidFill>
              <a:latin typeface="Times New Roman" panose="02020603050405020304" pitchFamily="18" charset="0"/>
              <a:cs typeface="Times New Roman" panose="02020603050405020304" pitchFamily="18" charset="0"/>
            </a:endParaRPr>
          </a:p>
          <a:p>
            <a:pPr marL="457200" lvl="0" indent="-342900" algn="l" rtl="0">
              <a:spcBef>
                <a:spcPts val="600"/>
              </a:spcBef>
              <a:spcAft>
                <a:spcPts val="0"/>
              </a:spcAft>
              <a:buClr>
                <a:srgbClr val="212121"/>
              </a:buClr>
              <a:buSzPts val="1800"/>
              <a:buFont typeface="Wingdings" panose="05000000000000000000" pitchFamily="2" charset="2"/>
              <a:buChar char="Ø"/>
            </a:pPr>
            <a:r>
              <a:rPr lang="en-US" sz="2400" b="1" dirty="0">
                <a:solidFill>
                  <a:srgbClr val="212121"/>
                </a:solidFill>
                <a:latin typeface="Times New Roman" panose="02020603050405020304" pitchFamily="18" charset="0"/>
                <a:cs typeface="Times New Roman" panose="02020603050405020304" pitchFamily="18" charset="0"/>
              </a:rPr>
              <a:t>MSE</a:t>
            </a:r>
            <a:r>
              <a:rPr lang="en-US" sz="2400" dirty="0">
                <a:solidFill>
                  <a:srgbClr val="212121"/>
                </a:solidFill>
                <a:latin typeface="Times New Roman" panose="02020603050405020304" pitchFamily="18" charset="0"/>
                <a:cs typeface="Times New Roman" panose="02020603050405020304" pitchFamily="18" charset="0"/>
              </a:rPr>
              <a:t> is more popular than MAE, because MSE "punishes" larger errors, which tends to be useful in the real world.</a:t>
            </a:r>
          </a:p>
          <a:p>
            <a:pPr marL="457200" lvl="0" indent="-342900" algn="l" rtl="0">
              <a:spcBef>
                <a:spcPts val="600"/>
              </a:spcBef>
              <a:spcAft>
                <a:spcPts val="0"/>
              </a:spcAft>
              <a:buClr>
                <a:srgbClr val="212121"/>
              </a:buClr>
              <a:buSzPts val="1800"/>
              <a:buFont typeface="Wingdings" panose="05000000000000000000" pitchFamily="2" charset="2"/>
              <a:buChar char="Ø"/>
            </a:pPr>
            <a:endParaRPr lang="en-US" sz="2400" dirty="0">
              <a:solidFill>
                <a:srgbClr val="212121"/>
              </a:solidFill>
              <a:latin typeface="Times New Roman" panose="02020603050405020304" pitchFamily="18" charset="0"/>
              <a:cs typeface="Times New Roman" panose="02020603050405020304" pitchFamily="18" charset="0"/>
            </a:endParaRPr>
          </a:p>
          <a:p>
            <a:pPr marL="457200" lvl="0" indent="-342900" algn="l" rtl="0">
              <a:spcBef>
                <a:spcPts val="600"/>
              </a:spcBef>
              <a:spcAft>
                <a:spcPts val="0"/>
              </a:spcAft>
              <a:buClr>
                <a:srgbClr val="212121"/>
              </a:buClr>
              <a:buSzPts val="1800"/>
              <a:buFont typeface="Wingdings" panose="05000000000000000000" pitchFamily="2" charset="2"/>
              <a:buChar char="Ø"/>
            </a:pPr>
            <a:r>
              <a:rPr lang="en-US" sz="2400" b="1" dirty="0">
                <a:solidFill>
                  <a:srgbClr val="212121"/>
                </a:solidFill>
                <a:latin typeface="Times New Roman" panose="02020603050405020304" pitchFamily="18" charset="0"/>
                <a:cs typeface="Times New Roman" panose="02020603050405020304" pitchFamily="18" charset="0"/>
              </a:rPr>
              <a:t>RMSE</a:t>
            </a:r>
            <a:r>
              <a:rPr lang="en-US" sz="2400" dirty="0">
                <a:solidFill>
                  <a:srgbClr val="212121"/>
                </a:solidFill>
                <a:latin typeface="Times New Roman" panose="02020603050405020304" pitchFamily="18" charset="0"/>
                <a:cs typeface="Times New Roman" panose="02020603050405020304" pitchFamily="18" charset="0"/>
              </a:rPr>
              <a:t> is even more popular than MSE, because RMSE is interpretable in the "y" units.</a:t>
            </a:r>
          </a:p>
          <a:p>
            <a:pPr marL="0" lvl="0" indent="0" algn="l" rtl="0">
              <a:spcBef>
                <a:spcPts val="600"/>
              </a:spcBef>
              <a:spcAft>
                <a:spcPts val="0"/>
              </a:spcAft>
              <a:buNone/>
            </a:pPr>
            <a:r>
              <a:rPr lang="en-US" sz="2400" dirty="0">
                <a:solidFill>
                  <a:srgbClr val="212121"/>
                </a:solidFill>
                <a:latin typeface="Times New Roman" panose="02020603050405020304" pitchFamily="18" charset="0"/>
                <a:cs typeface="Times New Roman" panose="02020603050405020304" pitchFamily="18" charset="0"/>
              </a:rPr>
              <a:t>All of these are </a:t>
            </a:r>
            <a:r>
              <a:rPr lang="en-US" sz="2400" b="1" dirty="0">
                <a:solidFill>
                  <a:srgbClr val="212121"/>
                </a:solidFill>
                <a:latin typeface="Times New Roman" panose="02020603050405020304" pitchFamily="18" charset="0"/>
                <a:cs typeface="Times New Roman" panose="02020603050405020304" pitchFamily="18" charset="0"/>
              </a:rPr>
              <a:t>cost</a:t>
            </a:r>
            <a:r>
              <a:rPr lang="en-US" sz="2400" dirty="0">
                <a:solidFill>
                  <a:srgbClr val="212121"/>
                </a:solidFill>
                <a:latin typeface="Times New Roman" panose="02020603050405020304" pitchFamily="18" charset="0"/>
                <a:cs typeface="Times New Roman" panose="02020603050405020304" pitchFamily="18" charset="0"/>
              </a:rPr>
              <a:t>/</a:t>
            </a:r>
            <a:r>
              <a:rPr lang="en-US" sz="2400" b="1" dirty="0">
                <a:solidFill>
                  <a:srgbClr val="212121"/>
                </a:solidFill>
                <a:latin typeface="Times New Roman" panose="02020603050405020304" pitchFamily="18" charset="0"/>
                <a:cs typeface="Times New Roman" panose="02020603050405020304" pitchFamily="18" charset="0"/>
              </a:rPr>
              <a:t>loss functions</a:t>
            </a:r>
            <a:r>
              <a:rPr lang="en-US" sz="2400" dirty="0">
                <a:solidFill>
                  <a:srgbClr val="212121"/>
                </a:solidFill>
                <a:latin typeface="Times New Roman" panose="02020603050405020304" pitchFamily="18" charset="0"/>
                <a:cs typeface="Times New Roman" panose="02020603050405020304" pitchFamily="18" charset="0"/>
              </a:rPr>
              <a:t>, because we want to minimize them.</a:t>
            </a:r>
          </a:p>
          <a:p>
            <a:pPr marL="0" lvl="0" indent="0" algn="l" rtl="0">
              <a:spcBef>
                <a:spcPts val="500"/>
              </a:spcBef>
              <a:spcAft>
                <a:spcPts val="1200"/>
              </a:spcAf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0628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Assumptions of Linear Regression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pic>
        <p:nvPicPr>
          <p:cNvPr id="4098" name="Picture 2">
            <a:extLst>
              <a:ext uri="{FF2B5EF4-FFF2-40B4-BE49-F238E27FC236}">
                <a16:creationId xmlns:a16="http://schemas.microsoft.com/office/drawing/2014/main" id="{767D503B-A66B-468A-BE90-A280F12F5C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692" b="8206"/>
          <a:stretch/>
        </p:blipFill>
        <p:spPr bwMode="auto">
          <a:xfrm>
            <a:off x="708272" y="1537253"/>
            <a:ext cx="10569327" cy="458800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565B5DA-07E2-4F08-9CFC-EE3B537ED6B4}"/>
              </a:ext>
            </a:extLst>
          </p:cNvPr>
          <p:cNvSpPr txBox="1"/>
          <p:nvPr/>
        </p:nvSpPr>
        <p:spPr>
          <a:xfrm>
            <a:off x="111125" y="6468904"/>
            <a:ext cx="6096000" cy="246221"/>
          </a:xfrm>
          <a:prstGeom prst="rect">
            <a:avLst/>
          </a:prstGeom>
          <a:noFill/>
        </p:spPr>
        <p:txBody>
          <a:bodyPr wrap="square">
            <a:spAutoFit/>
          </a:bodyPr>
          <a:lstStyle/>
          <a:p>
            <a:r>
              <a:rPr lang="en-IN" sz="1000" dirty="0"/>
              <a:t>https://www.superdatascience.com/blogs/assumptions-of-linear-regression</a:t>
            </a:r>
          </a:p>
        </p:txBody>
      </p:sp>
    </p:spTree>
    <p:extLst>
      <p:ext uri="{BB962C8B-B14F-4D97-AF65-F5344CB8AC3E}">
        <p14:creationId xmlns:p14="http://schemas.microsoft.com/office/powerpoint/2010/main" val="1083109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Multicollinearity</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pic>
        <p:nvPicPr>
          <p:cNvPr id="5122" name="Picture 2" descr="Multikollinearität">
            <a:extLst>
              <a:ext uri="{FF2B5EF4-FFF2-40B4-BE49-F238E27FC236}">
                <a16:creationId xmlns:a16="http://schemas.microsoft.com/office/drawing/2014/main" id="{800810AD-F949-4030-BC7F-13F66DA07B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9863" y="1685719"/>
            <a:ext cx="4457700" cy="32480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E3D3E6F-0CC0-48F4-A23D-E1F8851FB9C6}"/>
              </a:ext>
            </a:extLst>
          </p:cNvPr>
          <p:cNvSpPr txBox="1"/>
          <p:nvPr/>
        </p:nvSpPr>
        <p:spPr>
          <a:xfrm>
            <a:off x="142875" y="6453515"/>
            <a:ext cx="6096000" cy="261610"/>
          </a:xfrm>
          <a:prstGeom prst="rect">
            <a:avLst/>
          </a:prstGeom>
          <a:noFill/>
        </p:spPr>
        <p:txBody>
          <a:bodyPr wrap="square">
            <a:spAutoFit/>
          </a:bodyPr>
          <a:lstStyle/>
          <a:p>
            <a:r>
              <a:rPr lang="en-IN" sz="1100" dirty="0"/>
              <a:t>https://datatab.net/tutorial/multicollinearity</a:t>
            </a:r>
          </a:p>
        </p:txBody>
      </p:sp>
      <p:sp>
        <p:nvSpPr>
          <p:cNvPr id="8" name="TextBox 7">
            <a:extLst>
              <a:ext uri="{FF2B5EF4-FFF2-40B4-BE49-F238E27FC236}">
                <a16:creationId xmlns:a16="http://schemas.microsoft.com/office/drawing/2014/main" id="{D426446A-9B9A-419D-B9F5-9AC08A71602F}"/>
              </a:ext>
            </a:extLst>
          </p:cNvPr>
          <p:cNvSpPr txBox="1"/>
          <p:nvPr/>
        </p:nvSpPr>
        <p:spPr>
          <a:xfrm>
            <a:off x="384486" y="1512098"/>
            <a:ext cx="6096000" cy="2369880"/>
          </a:xfrm>
          <a:prstGeom prst="rect">
            <a:avLst/>
          </a:prstGeom>
          <a:noFill/>
        </p:spPr>
        <p:txBody>
          <a:bodyPr wrap="square">
            <a:spAutoFit/>
          </a:bodyPr>
          <a:lstStyle/>
          <a:p>
            <a:pPr marL="114300" lvl="0" algn="l" rtl="0">
              <a:spcBef>
                <a:spcPts val="0"/>
              </a:spcBef>
              <a:spcAft>
                <a:spcPts val="0"/>
              </a:spcAft>
              <a:buClr>
                <a:srgbClr val="11294A"/>
              </a:buClr>
              <a:buSzPts val="1800"/>
            </a:pPr>
            <a:r>
              <a:rPr lang="en-US" sz="2400" b="1" dirty="0">
                <a:latin typeface="Times New Roman" panose="02020603050405020304" pitchFamily="18" charset="0"/>
                <a:cs typeface="Times New Roman" panose="02020603050405020304" pitchFamily="18" charset="0"/>
              </a:rPr>
              <a:t>Dealing with multicollinearity </a:t>
            </a:r>
          </a:p>
          <a:p>
            <a:pPr marL="457200" lvl="0" indent="-342900" algn="l" rtl="0">
              <a:spcBef>
                <a:spcPts val="0"/>
              </a:spcBef>
              <a:spcAft>
                <a:spcPts val="0"/>
              </a:spcAft>
              <a:buClr>
                <a:srgbClr val="11294A"/>
              </a:buClr>
              <a:buSzPts val="18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Variance Inflation Factor (VIF) a way to check for multicollinearity</a:t>
            </a:r>
          </a:p>
          <a:p>
            <a:pPr marL="914400" lvl="1" indent="-342900">
              <a:buClr>
                <a:srgbClr val="11294A"/>
              </a:buClr>
              <a:buSzPts val="18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Higher the value, higher the multicollinearity, above 10 is critical</a:t>
            </a:r>
          </a:p>
          <a:p>
            <a:pPr marL="457200" lvl="0" indent="-342900" algn="l" rtl="0">
              <a:spcBef>
                <a:spcPts val="0"/>
              </a:spcBef>
              <a:spcAft>
                <a:spcPts val="0"/>
              </a:spcAft>
              <a:buClr>
                <a:srgbClr val="11294A"/>
              </a:buClr>
              <a:buSzPts val="18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Correlation matrix</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6456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E4EAB-521D-EF82-FF51-F093A95727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90B9A99-C6D3-5A6B-758F-D08EB29194D5}"/>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Python implementation</a:t>
            </a:r>
          </a:p>
        </p:txBody>
      </p:sp>
      <p:sp>
        <p:nvSpPr>
          <p:cNvPr id="3" name="Rectangle 2">
            <a:extLst>
              <a:ext uri="{FF2B5EF4-FFF2-40B4-BE49-F238E27FC236}">
                <a16:creationId xmlns:a16="http://schemas.microsoft.com/office/drawing/2014/main" id="{5F1F95F4-5FEC-A9E2-DC6B-031E85670693}"/>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Tree>
    <p:extLst>
      <p:ext uri="{BB962C8B-B14F-4D97-AF65-F5344CB8AC3E}">
        <p14:creationId xmlns:p14="http://schemas.microsoft.com/office/powerpoint/2010/main" val="1295560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23C1DF-F95C-4FE1-A8AD-9C58DC10F582}"/>
              </a:ext>
            </a:extLst>
          </p:cNvPr>
          <p:cNvSpPr/>
          <p:nvPr/>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Logistic Regression</a:t>
            </a:r>
          </a:p>
        </p:txBody>
      </p:sp>
    </p:spTree>
    <p:extLst>
      <p:ext uri="{BB962C8B-B14F-4D97-AF65-F5344CB8AC3E}">
        <p14:creationId xmlns:p14="http://schemas.microsoft.com/office/powerpoint/2010/main" val="3559175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Regression vs Classification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graphicFrame>
        <p:nvGraphicFramePr>
          <p:cNvPr id="9" name="Google Shape;295;p16">
            <a:extLst>
              <a:ext uri="{FF2B5EF4-FFF2-40B4-BE49-F238E27FC236}">
                <a16:creationId xmlns:a16="http://schemas.microsoft.com/office/drawing/2014/main" id="{00586310-1270-4130-BCAC-797E346B8F53}"/>
              </a:ext>
            </a:extLst>
          </p:cNvPr>
          <p:cNvGraphicFramePr/>
          <p:nvPr>
            <p:extLst>
              <p:ext uri="{D42A27DB-BD31-4B8C-83A1-F6EECF244321}">
                <p14:modId xmlns:p14="http://schemas.microsoft.com/office/powerpoint/2010/main" val="145150142"/>
              </p:ext>
            </p:extLst>
          </p:nvPr>
        </p:nvGraphicFramePr>
        <p:xfrm>
          <a:off x="2025926" y="1737945"/>
          <a:ext cx="7239000" cy="3108810"/>
        </p:xfrm>
        <a:graphic>
          <a:graphicData uri="http://schemas.openxmlformats.org/drawingml/2006/table">
            <a:tbl>
              <a:tblPr>
                <a:noFil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b="1">
                          <a:latin typeface="Times New Roman" panose="02020603050405020304" pitchFamily="18" charset="0"/>
                          <a:cs typeface="Times New Roman" panose="02020603050405020304" pitchFamily="18" charset="0"/>
                        </a:rPr>
                        <a:t>Regression</a:t>
                      </a:r>
                      <a:endParaRPr b="1">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ctr" rtl="0">
                        <a:spcBef>
                          <a:spcPts val="0"/>
                        </a:spcBef>
                        <a:spcAft>
                          <a:spcPts val="0"/>
                        </a:spcAft>
                        <a:buNone/>
                      </a:pPr>
                      <a:r>
                        <a:rPr lang="en" b="1">
                          <a:latin typeface="Times New Roman" panose="02020603050405020304" pitchFamily="18" charset="0"/>
                          <a:cs typeface="Times New Roman" panose="02020603050405020304" pitchFamily="18" charset="0"/>
                        </a:rPr>
                        <a:t>Classification</a:t>
                      </a:r>
                      <a:endParaRPr b="1">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Dependent variable is numeric</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Dependent variable is categorical</a:t>
                      </a:r>
                      <a:endParaRPr>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Techniques - Linear Regression, Regression Tree etc.</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Techniques - Logistic Regression, Decision Tree etc.</a:t>
                      </a:r>
                      <a:endParaRPr>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Evaluation Metric - RMSE, Rsq etc.</a:t>
                      </a:r>
                      <a:endParaRPr>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Evaluation Metric - Accuracy, F1 score etc.</a:t>
                      </a:r>
                      <a:endParaRPr>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Example - Predicting salary of employees</a:t>
                      </a:r>
                      <a:endParaRPr>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Example - Spam filtering</a:t>
                      </a:r>
                      <a:endParaRPr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06897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Logistic Regression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graphicFrame>
        <p:nvGraphicFramePr>
          <p:cNvPr id="5" name="Google Shape;307;p18">
            <a:extLst>
              <a:ext uri="{FF2B5EF4-FFF2-40B4-BE49-F238E27FC236}">
                <a16:creationId xmlns:a16="http://schemas.microsoft.com/office/drawing/2014/main" id="{2D5DBF9D-14B4-499D-9B97-222657F3B3FD}"/>
              </a:ext>
            </a:extLst>
          </p:cNvPr>
          <p:cNvGraphicFramePr/>
          <p:nvPr>
            <p:extLst>
              <p:ext uri="{D42A27DB-BD31-4B8C-83A1-F6EECF244321}">
                <p14:modId xmlns:p14="http://schemas.microsoft.com/office/powerpoint/2010/main" val="3932393933"/>
              </p:ext>
            </p:extLst>
          </p:nvPr>
        </p:nvGraphicFramePr>
        <p:xfrm>
          <a:off x="7897157" y="1446616"/>
          <a:ext cx="3262311" cy="2265325"/>
        </p:xfrm>
        <a:graphic>
          <a:graphicData uri="http://schemas.openxmlformats.org/drawingml/2006/table">
            <a:tbl>
              <a:tblPr>
                <a:noFill/>
              </a:tblPr>
              <a:tblGrid>
                <a:gridCol w="1087437">
                  <a:extLst>
                    <a:ext uri="{9D8B030D-6E8A-4147-A177-3AD203B41FA5}">
                      <a16:colId xmlns:a16="http://schemas.microsoft.com/office/drawing/2014/main" val="20000"/>
                    </a:ext>
                  </a:extLst>
                </a:gridCol>
                <a:gridCol w="1087437">
                  <a:extLst>
                    <a:ext uri="{9D8B030D-6E8A-4147-A177-3AD203B41FA5}">
                      <a16:colId xmlns:a16="http://schemas.microsoft.com/office/drawing/2014/main" val="20001"/>
                    </a:ext>
                  </a:extLst>
                </a:gridCol>
                <a:gridCol w="1087437">
                  <a:extLst>
                    <a:ext uri="{9D8B030D-6E8A-4147-A177-3AD203B41FA5}">
                      <a16:colId xmlns:a16="http://schemas.microsoft.com/office/drawing/2014/main" val="20002"/>
                    </a:ext>
                  </a:extLst>
                </a:gridCol>
              </a:tblGrid>
              <a:tr h="453065">
                <a:tc>
                  <a:txBody>
                    <a:bodyPr/>
                    <a:lstStyle/>
                    <a:p>
                      <a:pPr marL="0" lvl="0" indent="0" algn="l" rtl="0">
                        <a:lnSpc>
                          <a:spcPct val="115000"/>
                        </a:lnSpc>
                        <a:spcBef>
                          <a:spcPts val="0"/>
                        </a:spcBef>
                        <a:spcAft>
                          <a:spcPts val="0"/>
                        </a:spcAft>
                        <a:buNone/>
                      </a:pPr>
                      <a:r>
                        <a:rPr lang="en" sz="1800" b="1" dirty="0">
                          <a:solidFill>
                            <a:srgbClr val="404040"/>
                          </a:solidFill>
                          <a:highlight>
                            <a:srgbClr val="FCFCFC"/>
                          </a:highlight>
                          <a:latin typeface="Times New Roman" panose="02020603050405020304" pitchFamily="18" charset="0"/>
                          <a:cs typeface="Times New Roman" panose="02020603050405020304" pitchFamily="18" charset="0"/>
                        </a:rPr>
                        <a:t>Studied</a:t>
                      </a:r>
                      <a:endParaRPr sz="1800" b="1" dirty="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solidFill>
                      <a:srgbClr val="F3F6F6"/>
                    </a:solidFill>
                  </a:tcPr>
                </a:tc>
                <a:tc>
                  <a:txBody>
                    <a:bodyPr/>
                    <a:lstStyle/>
                    <a:p>
                      <a:pPr marL="0" lvl="0" indent="0" algn="l" rtl="0">
                        <a:lnSpc>
                          <a:spcPct val="115000"/>
                        </a:lnSpc>
                        <a:spcBef>
                          <a:spcPts val="0"/>
                        </a:spcBef>
                        <a:spcAft>
                          <a:spcPts val="0"/>
                        </a:spcAft>
                        <a:buNone/>
                      </a:pPr>
                      <a:r>
                        <a:rPr lang="en" sz="1800" b="1" dirty="0">
                          <a:solidFill>
                            <a:srgbClr val="404040"/>
                          </a:solidFill>
                          <a:highlight>
                            <a:srgbClr val="FCFCFC"/>
                          </a:highlight>
                          <a:latin typeface="Times New Roman" panose="02020603050405020304" pitchFamily="18" charset="0"/>
                          <a:cs typeface="Times New Roman" panose="02020603050405020304" pitchFamily="18" charset="0"/>
                        </a:rPr>
                        <a:t>Slept</a:t>
                      </a:r>
                      <a:endParaRPr sz="1800" b="1" dirty="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w="9525"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solidFill>
                      <a:srgbClr val="F3F6F6"/>
                    </a:solidFill>
                  </a:tcPr>
                </a:tc>
                <a:tc>
                  <a:txBody>
                    <a:bodyPr/>
                    <a:lstStyle/>
                    <a:p>
                      <a:pPr marL="0" lvl="0" indent="0" algn="l" rtl="0">
                        <a:lnSpc>
                          <a:spcPct val="115000"/>
                        </a:lnSpc>
                        <a:spcBef>
                          <a:spcPts val="0"/>
                        </a:spcBef>
                        <a:spcAft>
                          <a:spcPts val="0"/>
                        </a:spcAft>
                        <a:buNone/>
                      </a:pPr>
                      <a:r>
                        <a:rPr lang="en" sz="1800" b="1" dirty="0">
                          <a:solidFill>
                            <a:srgbClr val="404040"/>
                          </a:solidFill>
                          <a:highlight>
                            <a:srgbClr val="FCFCFC"/>
                          </a:highlight>
                          <a:latin typeface="Times New Roman" panose="02020603050405020304" pitchFamily="18" charset="0"/>
                          <a:cs typeface="Times New Roman" panose="02020603050405020304" pitchFamily="18" charset="0"/>
                        </a:rPr>
                        <a:t>Passed</a:t>
                      </a:r>
                      <a:endParaRPr sz="1800" b="1" dirty="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w="9525"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solidFill>
                      <a:srgbClr val="F3F6F6"/>
                    </a:solidFill>
                  </a:tcPr>
                </a:tc>
                <a:extLst>
                  <a:ext uri="{0D108BD9-81ED-4DB2-BD59-A6C34878D82A}">
                    <a16:rowId xmlns:a16="http://schemas.microsoft.com/office/drawing/2014/main" val="10000"/>
                  </a:ext>
                </a:extLst>
              </a:tr>
              <a:tr h="453065">
                <a:tc>
                  <a:txBody>
                    <a:bodyPr/>
                    <a:lstStyle/>
                    <a:p>
                      <a:pPr marL="0" lvl="0" indent="0" algn="l" rtl="0">
                        <a:lnSpc>
                          <a:spcPct val="115000"/>
                        </a:lnSpc>
                        <a:spcBef>
                          <a:spcPts val="0"/>
                        </a:spcBef>
                        <a:spcAft>
                          <a:spcPts val="0"/>
                        </a:spcAft>
                        <a:buNone/>
                      </a:pPr>
                      <a:r>
                        <a:rPr lang="en" sz="1800">
                          <a:solidFill>
                            <a:srgbClr val="404040"/>
                          </a:solidFill>
                          <a:highlight>
                            <a:srgbClr val="FCFCFC"/>
                          </a:highlight>
                          <a:latin typeface="Times New Roman" panose="02020603050405020304" pitchFamily="18" charset="0"/>
                          <a:cs typeface="Times New Roman" panose="02020603050405020304" pitchFamily="18" charset="0"/>
                        </a:rPr>
                        <a:t>4.85</a:t>
                      </a:r>
                      <a:endParaRPr sz="180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800" dirty="0">
                          <a:solidFill>
                            <a:srgbClr val="404040"/>
                          </a:solidFill>
                          <a:highlight>
                            <a:srgbClr val="FCFCFC"/>
                          </a:highlight>
                          <a:latin typeface="Times New Roman" panose="02020603050405020304" pitchFamily="18" charset="0"/>
                          <a:cs typeface="Times New Roman" panose="02020603050405020304" pitchFamily="18" charset="0"/>
                        </a:rPr>
                        <a:t>9.63</a:t>
                      </a:r>
                      <a:endParaRPr sz="1800" dirty="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w="9525"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800">
                          <a:solidFill>
                            <a:srgbClr val="404040"/>
                          </a:solidFill>
                          <a:highlight>
                            <a:srgbClr val="FCFCFC"/>
                          </a:highlight>
                          <a:latin typeface="Times New Roman" panose="02020603050405020304" pitchFamily="18" charset="0"/>
                          <a:cs typeface="Times New Roman" panose="02020603050405020304" pitchFamily="18" charset="0"/>
                        </a:rPr>
                        <a:t>1</a:t>
                      </a:r>
                      <a:endParaRPr sz="180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w="9525"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tcPr>
                </a:tc>
                <a:extLst>
                  <a:ext uri="{0D108BD9-81ED-4DB2-BD59-A6C34878D82A}">
                    <a16:rowId xmlns:a16="http://schemas.microsoft.com/office/drawing/2014/main" val="10001"/>
                  </a:ext>
                </a:extLst>
              </a:tr>
              <a:tr h="453065">
                <a:tc>
                  <a:txBody>
                    <a:bodyPr/>
                    <a:lstStyle/>
                    <a:p>
                      <a:pPr marL="0" lvl="0" indent="0" algn="l" rtl="0">
                        <a:lnSpc>
                          <a:spcPct val="115000"/>
                        </a:lnSpc>
                        <a:spcBef>
                          <a:spcPts val="0"/>
                        </a:spcBef>
                        <a:spcAft>
                          <a:spcPts val="0"/>
                        </a:spcAft>
                        <a:buNone/>
                      </a:pPr>
                      <a:r>
                        <a:rPr lang="en" sz="1800">
                          <a:solidFill>
                            <a:srgbClr val="404040"/>
                          </a:solidFill>
                          <a:highlight>
                            <a:srgbClr val="FCFCFC"/>
                          </a:highlight>
                          <a:latin typeface="Times New Roman" panose="02020603050405020304" pitchFamily="18" charset="0"/>
                          <a:cs typeface="Times New Roman" panose="02020603050405020304" pitchFamily="18" charset="0"/>
                        </a:rPr>
                        <a:t>8.62</a:t>
                      </a:r>
                      <a:endParaRPr sz="180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solidFill>
                      <a:srgbClr val="F3F6F6"/>
                    </a:solidFill>
                  </a:tcPr>
                </a:tc>
                <a:tc>
                  <a:txBody>
                    <a:bodyPr/>
                    <a:lstStyle/>
                    <a:p>
                      <a:pPr marL="0" lvl="0" indent="0" algn="l" rtl="0">
                        <a:lnSpc>
                          <a:spcPct val="115000"/>
                        </a:lnSpc>
                        <a:spcBef>
                          <a:spcPts val="0"/>
                        </a:spcBef>
                        <a:spcAft>
                          <a:spcPts val="0"/>
                        </a:spcAft>
                        <a:buNone/>
                      </a:pPr>
                      <a:r>
                        <a:rPr lang="en" sz="1800" dirty="0">
                          <a:solidFill>
                            <a:srgbClr val="404040"/>
                          </a:solidFill>
                          <a:highlight>
                            <a:srgbClr val="FCFCFC"/>
                          </a:highlight>
                          <a:latin typeface="Times New Roman" panose="02020603050405020304" pitchFamily="18" charset="0"/>
                          <a:cs typeface="Times New Roman" panose="02020603050405020304" pitchFamily="18" charset="0"/>
                        </a:rPr>
                        <a:t>3.23</a:t>
                      </a:r>
                      <a:endParaRPr sz="1800" dirty="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w="9525"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solidFill>
                      <a:srgbClr val="F3F6F6"/>
                    </a:solidFill>
                  </a:tcPr>
                </a:tc>
                <a:tc>
                  <a:txBody>
                    <a:bodyPr/>
                    <a:lstStyle/>
                    <a:p>
                      <a:pPr marL="0" lvl="0" indent="0" algn="l" rtl="0">
                        <a:lnSpc>
                          <a:spcPct val="115000"/>
                        </a:lnSpc>
                        <a:spcBef>
                          <a:spcPts val="0"/>
                        </a:spcBef>
                        <a:spcAft>
                          <a:spcPts val="0"/>
                        </a:spcAft>
                        <a:buNone/>
                      </a:pPr>
                      <a:r>
                        <a:rPr lang="en" sz="1800" dirty="0">
                          <a:solidFill>
                            <a:srgbClr val="404040"/>
                          </a:solidFill>
                          <a:highlight>
                            <a:srgbClr val="FCFCFC"/>
                          </a:highlight>
                          <a:latin typeface="Times New Roman" panose="02020603050405020304" pitchFamily="18" charset="0"/>
                          <a:cs typeface="Times New Roman" panose="02020603050405020304" pitchFamily="18" charset="0"/>
                        </a:rPr>
                        <a:t>0</a:t>
                      </a:r>
                      <a:endParaRPr sz="1800" dirty="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w="9525"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solidFill>
                      <a:srgbClr val="F3F6F6"/>
                    </a:solidFill>
                  </a:tcPr>
                </a:tc>
                <a:extLst>
                  <a:ext uri="{0D108BD9-81ED-4DB2-BD59-A6C34878D82A}">
                    <a16:rowId xmlns:a16="http://schemas.microsoft.com/office/drawing/2014/main" val="10002"/>
                  </a:ext>
                </a:extLst>
              </a:tr>
              <a:tr h="453065">
                <a:tc>
                  <a:txBody>
                    <a:bodyPr/>
                    <a:lstStyle/>
                    <a:p>
                      <a:pPr marL="0" lvl="0" indent="0" algn="l" rtl="0">
                        <a:lnSpc>
                          <a:spcPct val="115000"/>
                        </a:lnSpc>
                        <a:spcBef>
                          <a:spcPts val="0"/>
                        </a:spcBef>
                        <a:spcAft>
                          <a:spcPts val="0"/>
                        </a:spcAft>
                        <a:buNone/>
                      </a:pPr>
                      <a:r>
                        <a:rPr lang="en" sz="1800">
                          <a:solidFill>
                            <a:srgbClr val="404040"/>
                          </a:solidFill>
                          <a:highlight>
                            <a:srgbClr val="FCFCFC"/>
                          </a:highlight>
                          <a:latin typeface="Times New Roman" panose="02020603050405020304" pitchFamily="18" charset="0"/>
                          <a:cs typeface="Times New Roman" panose="02020603050405020304" pitchFamily="18" charset="0"/>
                        </a:rPr>
                        <a:t>5.43</a:t>
                      </a:r>
                      <a:endParaRPr sz="180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800">
                          <a:solidFill>
                            <a:srgbClr val="404040"/>
                          </a:solidFill>
                          <a:highlight>
                            <a:srgbClr val="FCFCFC"/>
                          </a:highlight>
                          <a:latin typeface="Times New Roman" panose="02020603050405020304" pitchFamily="18" charset="0"/>
                          <a:cs typeface="Times New Roman" panose="02020603050405020304" pitchFamily="18" charset="0"/>
                        </a:rPr>
                        <a:t>8.23</a:t>
                      </a:r>
                      <a:endParaRPr sz="180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w="9525"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800">
                          <a:solidFill>
                            <a:srgbClr val="404040"/>
                          </a:solidFill>
                          <a:highlight>
                            <a:srgbClr val="FCFCFC"/>
                          </a:highlight>
                          <a:latin typeface="Times New Roman" panose="02020603050405020304" pitchFamily="18" charset="0"/>
                          <a:cs typeface="Times New Roman" panose="02020603050405020304" pitchFamily="18" charset="0"/>
                        </a:rPr>
                        <a:t>1</a:t>
                      </a:r>
                      <a:endParaRPr sz="180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w="9525"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w="9525" cap="flat" cmpd="sng">
                      <a:solidFill>
                        <a:srgbClr val="E1E4E5"/>
                      </a:solidFill>
                      <a:prstDash val="solid"/>
                      <a:round/>
                      <a:headEnd type="none" w="sm" len="sm"/>
                      <a:tailEnd type="none" w="sm" len="sm"/>
                    </a:lnB>
                  </a:tcPr>
                </a:tc>
                <a:extLst>
                  <a:ext uri="{0D108BD9-81ED-4DB2-BD59-A6C34878D82A}">
                    <a16:rowId xmlns:a16="http://schemas.microsoft.com/office/drawing/2014/main" val="10003"/>
                  </a:ext>
                </a:extLst>
              </a:tr>
              <a:tr h="453065">
                <a:tc>
                  <a:txBody>
                    <a:bodyPr/>
                    <a:lstStyle/>
                    <a:p>
                      <a:pPr marL="0" lvl="0" indent="0" algn="l" rtl="0">
                        <a:lnSpc>
                          <a:spcPct val="115000"/>
                        </a:lnSpc>
                        <a:spcBef>
                          <a:spcPts val="0"/>
                        </a:spcBef>
                        <a:spcAft>
                          <a:spcPts val="0"/>
                        </a:spcAft>
                        <a:buNone/>
                      </a:pPr>
                      <a:r>
                        <a:rPr lang="en" sz="1800">
                          <a:solidFill>
                            <a:srgbClr val="404040"/>
                          </a:solidFill>
                          <a:highlight>
                            <a:srgbClr val="FCFCFC"/>
                          </a:highlight>
                          <a:latin typeface="Times New Roman" panose="02020603050405020304" pitchFamily="18" charset="0"/>
                          <a:cs typeface="Times New Roman" panose="02020603050405020304" pitchFamily="18" charset="0"/>
                        </a:rPr>
                        <a:t>9.21</a:t>
                      </a:r>
                      <a:endParaRPr sz="180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cap="flat" cmpd="sng">
                      <a:solidFill>
                        <a:srgbClr val="E1E4E5"/>
                      </a:solidFill>
                      <a:prstDash val="solid"/>
                      <a:round/>
                      <a:headEnd type="none" w="sm" len="sm"/>
                      <a:tailEnd type="none" w="sm" len="sm"/>
                    </a:lnB>
                    <a:solidFill>
                      <a:srgbClr val="F3F6F6"/>
                    </a:solidFill>
                  </a:tcPr>
                </a:tc>
                <a:tc>
                  <a:txBody>
                    <a:bodyPr/>
                    <a:lstStyle/>
                    <a:p>
                      <a:pPr marL="0" lvl="0" indent="0" algn="l" rtl="0">
                        <a:lnSpc>
                          <a:spcPct val="115000"/>
                        </a:lnSpc>
                        <a:spcBef>
                          <a:spcPts val="0"/>
                        </a:spcBef>
                        <a:spcAft>
                          <a:spcPts val="0"/>
                        </a:spcAft>
                        <a:buNone/>
                      </a:pPr>
                      <a:r>
                        <a:rPr lang="en" sz="1800">
                          <a:solidFill>
                            <a:srgbClr val="404040"/>
                          </a:solidFill>
                          <a:highlight>
                            <a:srgbClr val="FCFCFC"/>
                          </a:highlight>
                          <a:latin typeface="Times New Roman" panose="02020603050405020304" pitchFamily="18" charset="0"/>
                          <a:cs typeface="Times New Roman" panose="02020603050405020304" pitchFamily="18" charset="0"/>
                        </a:rPr>
                        <a:t>6.34</a:t>
                      </a:r>
                      <a:endParaRPr sz="180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w="9525"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cap="flat" cmpd="sng">
                      <a:solidFill>
                        <a:srgbClr val="E1E4E5"/>
                      </a:solidFill>
                      <a:prstDash val="solid"/>
                      <a:round/>
                      <a:headEnd type="none" w="sm" len="sm"/>
                      <a:tailEnd type="none" w="sm" len="sm"/>
                    </a:lnB>
                    <a:solidFill>
                      <a:srgbClr val="F3F6F6"/>
                    </a:solidFill>
                  </a:tcPr>
                </a:tc>
                <a:tc>
                  <a:txBody>
                    <a:bodyPr/>
                    <a:lstStyle/>
                    <a:p>
                      <a:pPr marL="0" lvl="0" indent="0" algn="l" rtl="0">
                        <a:lnSpc>
                          <a:spcPct val="115000"/>
                        </a:lnSpc>
                        <a:spcBef>
                          <a:spcPts val="0"/>
                        </a:spcBef>
                        <a:spcAft>
                          <a:spcPts val="0"/>
                        </a:spcAft>
                        <a:buNone/>
                      </a:pPr>
                      <a:r>
                        <a:rPr lang="en" sz="1800" dirty="0">
                          <a:solidFill>
                            <a:srgbClr val="404040"/>
                          </a:solidFill>
                          <a:highlight>
                            <a:srgbClr val="FCFCFC"/>
                          </a:highlight>
                          <a:latin typeface="Times New Roman" panose="02020603050405020304" pitchFamily="18" charset="0"/>
                          <a:cs typeface="Times New Roman" panose="02020603050405020304" pitchFamily="18" charset="0"/>
                        </a:rPr>
                        <a:t>0</a:t>
                      </a:r>
                      <a:endParaRPr sz="1800" dirty="0">
                        <a:solidFill>
                          <a:srgbClr val="404040"/>
                        </a:solidFill>
                        <a:highlight>
                          <a:srgbClr val="FCFCFC"/>
                        </a:highlight>
                        <a:latin typeface="Times New Roman" panose="02020603050405020304" pitchFamily="18" charset="0"/>
                        <a:cs typeface="Times New Roman" panose="02020603050405020304" pitchFamily="18" charset="0"/>
                      </a:endParaRPr>
                    </a:p>
                  </a:txBody>
                  <a:tcPr marL="152400" marR="152400" marT="76200" marB="76200" anchor="ctr">
                    <a:lnL w="9525" cap="flat" cmpd="sng">
                      <a:solidFill>
                        <a:srgbClr val="E1E4E5"/>
                      </a:solidFill>
                      <a:prstDash val="solid"/>
                      <a:round/>
                      <a:headEnd type="none" w="sm" len="sm"/>
                      <a:tailEnd type="none" w="sm" len="sm"/>
                    </a:lnL>
                    <a:lnR w="9525" cap="flat" cmpd="sng">
                      <a:solidFill>
                        <a:srgbClr val="E1E4E5"/>
                      </a:solidFill>
                      <a:prstDash val="solid"/>
                      <a:round/>
                      <a:headEnd type="none" w="sm" len="sm"/>
                      <a:tailEnd type="none" w="sm" len="sm"/>
                    </a:lnR>
                    <a:lnT w="9525" cap="flat" cmpd="sng">
                      <a:solidFill>
                        <a:srgbClr val="E1E4E5"/>
                      </a:solidFill>
                      <a:prstDash val="solid"/>
                      <a:round/>
                      <a:headEnd type="none" w="sm" len="sm"/>
                      <a:tailEnd type="none" w="sm" len="sm"/>
                    </a:lnT>
                    <a:lnB cap="flat" cmpd="sng">
                      <a:solidFill>
                        <a:srgbClr val="E1E4E5"/>
                      </a:solidFill>
                      <a:prstDash val="solid"/>
                      <a:round/>
                      <a:headEnd type="none" w="sm" len="sm"/>
                      <a:tailEnd type="none" w="sm" len="sm"/>
                    </a:lnB>
                    <a:solidFill>
                      <a:srgbClr val="F3F6F6"/>
                    </a:solidFill>
                  </a:tcPr>
                </a:tc>
                <a:extLst>
                  <a:ext uri="{0D108BD9-81ED-4DB2-BD59-A6C34878D82A}">
                    <a16:rowId xmlns:a16="http://schemas.microsoft.com/office/drawing/2014/main" val="10004"/>
                  </a:ext>
                </a:extLst>
              </a:tr>
            </a:tbl>
          </a:graphicData>
        </a:graphic>
      </p:graphicFrame>
      <p:pic>
        <p:nvPicPr>
          <p:cNvPr id="6" name="Google Shape;308;p18">
            <a:extLst>
              <a:ext uri="{FF2B5EF4-FFF2-40B4-BE49-F238E27FC236}">
                <a16:creationId xmlns:a16="http://schemas.microsoft.com/office/drawing/2014/main" id="{48B346C3-3F86-4A18-916D-67AE9AA5E0E5}"/>
              </a:ext>
            </a:extLst>
          </p:cNvPr>
          <p:cNvPicPr preferRelativeResize="0"/>
          <p:nvPr/>
        </p:nvPicPr>
        <p:blipFill>
          <a:blip r:embed="rId2">
            <a:alphaModFix/>
          </a:blip>
          <a:stretch>
            <a:fillRect/>
          </a:stretch>
        </p:blipFill>
        <p:spPr>
          <a:xfrm>
            <a:off x="7447722" y="3699254"/>
            <a:ext cx="4346713" cy="2989182"/>
          </a:xfrm>
          <a:prstGeom prst="rect">
            <a:avLst/>
          </a:prstGeom>
          <a:noFill/>
          <a:ln>
            <a:noFill/>
          </a:ln>
        </p:spPr>
      </p:pic>
      <p:sp>
        <p:nvSpPr>
          <p:cNvPr id="7" name="Google Shape;309;p18">
            <a:extLst>
              <a:ext uri="{FF2B5EF4-FFF2-40B4-BE49-F238E27FC236}">
                <a16:creationId xmlns:a16="http://schemas.microsoft.com/office/drawing/2014/main" id="{03158DB1-5167-4CEC-A4E3-3876918E6BA6}"/>
              </a:ext>
            </a:extLst>
          </p:cNvPr>
          <p:cNvSpPr txBox="1"/>
          <p:nvPr/>
        </p:nvSpPr>
        <p:spPr>
          <a:xfrm>
            <a:off x="142875" y="6386360"/>
            <a:ext cx="3293700" cy="37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i="1" dirty="0"/>
              <a:t>Reference </a:t>
            </a:r>
            <a:r>
              <a:rPr lang="en" sz="1100" dirty="0"/>
              <a:t>- </a:t>
            </a:r>
            <a:r>
              <a:rPr lang="en" sz="1100" u="sng" dirty="0">
                <a:solidFill>
                  <a:schemeClr val="hlink"/>
                </a:solidFill>
                <a:hlinkClick r:id="rId3"/>
              </a:rPr>
              <a:t>https://ml-cheatsheet.readthedocs.io/</a:t>
            </a:r>
            <a:endParaRPr dirty="0"/>
          </a:p>
        </p:txBody>
      </p:sp>
      <p:sp>
        <p:nvSpPr>
          <p:cNvPr id="8" name="TextBox 7">
            <a:extLst>
              <a:ext uri="{FF2B5EF4-FFF2-40B4-BE49-F238E27FC236}">
                <a16:creationId xmlns:a16="http://schemas.microsoft.com/office/drawing/2014/main" id="{4C8048F0-F9BC-4AD5-AD26-83F097599B97}"/>
              </a:ext>
            </a:extLst>
          </p:cNvPr>
          <p:cNvSpPr txBox="1"/>
          <p:nvPr/>
        </p:nvSpPr>
        <p:spPr>
          <a:xfrm>
            <a:off x="384486" y="1512098"/>
            <a:ext cx="6096000" cy="2308324"/>
          </a:xfrm>
          <a:prstGeom prst="rect">
            <a:avLst/>
          </a:prstGeom>
          <a:noFill/>
        </p:spPr>
        <p:txBody>
          <a:bodyPr wrap="square">
            <a:spAutoFit/>
          </a:bodyPr>
          <a:lstStyle/>
          <a:p>
            <a:pPr marL="571500" lvl="0" indent="-457200" algn="l" rtl="0">
              <a:spcBef>
                <a:spcPts val="0"/>
              </a:spcBef>
              <a:spcAft>
                <a:spcPts val="0"/>
              </a:spcAft>
              <a:buClr>
                <a:srgbClr val="11294A"/>
              </a:buClr>
              <a:buSzPts val="18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Also known as logit model.</a:t>
            </a:r>
          </a:p>
          <a:p>
            <a:pPr marL="571500" lvl="0" indent="-457200" algn="l" rtl="0">
              <a:spcBef>
                <a:spcPts val="0"/>
              </a:spcBef>
              <a:spcAft>
                <a:spcPts val="0"/>
              </a:spcAft>
              <a:buClr>
                <a:srgbClr val="11294A"/>
              </a:buClr>
              <a:buSzPts val="18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571500" lvl="0" indent="-457200" algn="l" rtl="0">
              <a:spcBef>
                <a:spcPts val="0"/>
              </a:spcBef>
              <a:spcAft>
                <a:spcPts val="0"/>
              </a:spcAft>
              <a:buClr>
                <a:srgbClr val="11294A"/>
              </a:buClr>
              <a:buSzPts val="1800"/>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With the exception of how they are applied, logistic regression and linear regression are very similar.</a:t>
            </a:r>
            <a:endParaRPr lang="en-US" sz="2400" dirty="0">
              <a:latin typeface="Times New Roman" panose="02020603050405020304" pitchFamily="18" charset="0"/>
              <a:cs typeface="Times New Roman" panose="02020603050405020304" pitchFamily="18" charset="0"/>
            </a:endParaRPr>
          </a:p>
          <a:p>
            <a:pPr marL="571500" lvl="0" indent="-457200" algn="l" rtl="0">
              <a:spcBef>
                <a:spcPts val="0"/>
              </a:spcBef>
              <a:spcAft>
                <a:spcPts val="0"/>
              </a:spcAft>
              <a:buClr>
                <a:srgbClr val="11294A"/>
              </a:buClr>
              <a:buSzPts val="18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2490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Logistic Regression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7" name="Google Shape;309;p18">
            <a:extLst>
              <a:ext uri="{FF2B5EF4-FFF2-40B4-BE49-F238E27FC236}">
                <a16:creationId xmlns:a16="http://schemas.microsoft.com/office/drawing/2014/main" id="{03158DB1-5167-4CEC-A4E3-3876918E6BA6}"/>
              </a:ext>
            </a:extLst>
          </p:cNvPr>
          <p:cNvSpPr txBox="1"/>
          <p:nvPr/>
        </p:nvSpPr>
        <p:spPr>
          <a:xfrm>
            <a:off x="142875" y="6386360"/>
            <a:ext cx="3293700" cy="37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i="1" dirty="0"/>
              <a:t>Reference </a:t>
            </a:r>
            <a:r>
              <a:rPr lang="en" sz="1100" dirty="0"/>
              <a:t>- </a:t>
            </a:r>
            <a:r>
              <a:rPr lang="en" sz="1100" u="sng" dirty="0">
                <a:solidFill>
                  <a:schemeClr val="hlink"/>
                </a:solidFill>
                <a:hlinkClick r:id="rId2"/>
              </a:rPr>
              <a:t>https://ml-cheatsheet.readthedocs.io/</a:t>
            </a:r>
            <a:endParaRPr dirty="0"/>
          </a:p>
        </p:txBody>
      </p:sp>
      <p:pic>
        <p:nvPicPr>
          <p:cNvPr id="6146" name="Picture 2" descr="LOGISTIC REGRESSION. In the previous article, we have seen… | by Vineet  Maheshwari | DataDrivenInvestor">
            <a:extLst>
              <a:ext uri="{FF2B5EF4-FFF2-40B4-BE49-F238E27FC236}">
                <a16:creationId xmlns:a16="http://schemas.microsoft.com/office/drawing/2014/main" id="{4F593830-4251-4CFF-B07B-9784B86387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068" y="1871663"/>
            <a:ext cx="8621906" cy="3888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533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Sigmoid Function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10" name="TextBox 9">
            <a:extLst>
              <a:ext uri="{FF2B5EF4-FFF2-40B4-BE49-F238E27FC236}">
                <a16:creationId xmlns:a16="http://schemas.microsoft.com/office/drawing/2014/main" id="{25FAB711-F7B8-4A46-9F43-392DB769E2FC}"/>
              </a:ext>
            </a:extLst>
          </p:cNvPr>
          <p:cNvSpPr txBox="1"/>
          <p:nvPr/>
        </p:nvSpPr>
        <p:spPr>
          <a:xfrm>
            <a:off x="111125" y="6453515"/>
            <a:ext cx="6096000" cy="261610"/>
          </a:xfrm>
          <a:prstGeom prst="rect">
            <a:avLst/>
          </a:prstGeom>
          <a:noFill/>
        </p:spPr>
        <p:txBody>
          <a:bodyPr wrap="square">
            <a:spAutoFit/>
          </a:bodyPr>
          <a:lstStyle/>
          <a:p>
            <a:r>
              <a:rPr lang="en-IN" sz="1050" dirty="0"/>
              <a:t>https://www.saedsayad.com/logistic_regression.htm</a:t>
            </a:r>
          </a:p>
        </p:txBody>
      </p:sp>
      <p:sp>
        <p:nvSpPr>
          <p:cNvPr id="11" name="TextBox 10">
            <a:extLst>
              <a:ext uri="{FF2B5EF4-FFF2-40B4-BE49-F238E27FC236}">
                <a16:creationId xmlns:a16="http://schemas.microsoft.com/office/drawing/2014/main" id="{A40E9819-3C72-4102-833A-0894F7402B7E}"/>
              </a:ext>
            </a:extLst>
          </p:cNvPr>
          <p:cNvSpPr txBox="1"/>
          <p:nvPr/>
        </p:nvSpPr>
        <p:spPr>
          <a:xfrm>
            <a:off x="384486" y="1512098"/>
            <a:ext cx="6096000" cy="3046988"/>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Instead of fitting a regression line, we fit an ‘S' shaped logistic function that predicts the outcome (0 or 1) in logistic regression.</a:t>
            </a:r>
          </a:p>
          <a:p>
            <a:pPr marL="342900" indent="-342900" algn="l">
              <a:buFont typeface="Wingdings" panose="05000000000000000000" pitchFamily="2" charset="2"/>
              <a:buChar char="Ø"/>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The sigmoid function is a mathematical function used to map the predicted values to probabilities.</a:t>
            </a:r>
          </a:p>
          <a:p>
            <a:pPr marL="342900" indent="-342900" algn="l">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pic>
        <p:nvPicPr>
          <p:cNvPr id="8200" name="Picture 8" descr="Logistic Regression">
            <a:extLst>
              <a:ext uri="{FF2B5EF4-FFF2-40B4-BE49-F238E27FC236}">
                <a16:creationId xmlns:a16="http://schemas.microsoft.com/office/drawing/2014/main" id="{DD458E1E-0EE0-4136-BE27-2186D64909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4639" y="1512098"/>
            <a:ext cx="5612144" cy="3007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802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Sigmoid Function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pic>
        <p:nvPicPr>
          <p:cNvPr id="7" name="Google Shape;324;p20">
            <a:extLst>
              <a:ext uri="{FF2B5EF4-FFF2-40B4-BE49-F238E27FC236}">
                <a16:creationId xmlns:a16="http://schemas.microsoft.com/office/drawing/2014/main" id="{9E11BDF0-F016-46CF-B2CA-DB00C97842B7}"/>
              </a:ext>
            </a:extLst>
          </p:cNvPr>
          <p:cNvPicPr preferRelativeResize="0"/>
          <p:nvPr/>
        </p:nvPicPr>
        <p:blipFill>
          <a:blip r:embed="rId2">
            <a:alphaModFix/>
          </a:blip>
          <a:stretch>
            <a:fillRect/>
          </a:stretch>
        </p:blipFill>
        <p:spPr>
          <a:xfrm>
            <a:off x="945988" y="1680595"/>
            <a:ext cx="4977730" cy="3891530"/>
          </a:xfrm>
          <a:prstGeom prst="rect">
            <a:avLst/>
          </a:prstGeom>
          <a:noFill/>
          <a:ln>
            <a:noFill/>
          </a:ln>
        </p:spPr>
      </p:pic>
      <p:pic>
        <p:nvPicPr>
          <p:cNvPr id="8" name="Google Shape;325;p20">
            <a:extLst>
              <a:ext uri="{FF2B5EF4-FFF2-40B4-BE49-F238E27FC236}">
                <a16:creationId xmlns:a16="http://schemas.microsoft.com/office/drawing/2014/main" id="{1B0F4D81-6860-4333-BB35-B4C73222A582}"/>
              </a:ext>
            </a:extLst>
          </p:cNvPr>
          <p:cNvPicPr preferRelativeResize="0"/>
          <p:nvPr/>
        </p:nvPicPr>
        <p:blipFill rotWithShape="1">
          <a:blip r:embed="rId3">
            <a:alphaModFix/>
          </a:blip>
          <a:srcRect b="13119"/>
          <a:stretch/>
        </p:blipFill>
        <p:spPr>
          <a:xfrm>
            <a:off x="6049179" y="1678995"/>
            <a:ext cx="4977730" cy="3891528"/>
          </a:xfrm>
          <a:prstGeom prst="rect">
            <a:avLst/>
          </a:prstGeom>
          <a:noFill/>
          <a:ln>
            <a:noFill/>
          </a:ln>
        </p:spPr>
      </p:pic>
    </p:spTree>
    <p:extLst>
      <p:ext uri="{BB962C8B-B14F-4D97-AF65-F5344CB8AC3E}">
        <p14:creationId xmlns:p14="http://schemas.microsoft.com/office/powerpoint/2010/main" val="2165909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Maximum Likelihood Estimation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11" name="TextBox 10">
            <a:extLst>
              <a:ext uri="{FF2B5EF4-FFF2-40B4-BE49-F238E27FC236}">
                <a16:creationId xmlns:a16="http://schemas.microsoft.com/office/drawing/2014/main" id="{A40E9819-3C72-4102-833A-0894F7402B7E}"/>
              </a:ext>
            </a:extLst>
          </p:cNvPr>
          <p:cNvSpPr txBox="1"/>
          <p:nvPr/>
        </p:nvSpPr>
        <p:spPr>
          <a:xfrm>
            <a:off x="384486" y="1512098"/>
            <a:ext cx="6502974" cy="2308324"/>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Maximum likelihood estimation (MLE) is a statistical method used to find the best set of parameters that explain the observed data. The goal is to find the set of parameters that make the observed data the most likely, given the statistical model that we have assumed.</a:t>
            </a:r>
          </a:p>
        </p:txBody>
      </p:sp>
      <p:pic>
        <p:nvPicPr>
          <p:cNvPr id="10242" name="Picture 2" descr="What is Logistic Regression? – Data Science Duniya">
            <a:extLst>
              <a:ext uri="{FF2B5EF4-FFF2-40B4-BE49-F238E27FC236}">
                <a16:creationId xmlns:a16="http://schemas.microsoft.com/office/drawing/2014/main" id="{B4BDEB32-D236-4688-96B7-7213D7A878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83" y="4740422"/>
            <a:ext cx="5512647" cy="112503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9368B0D-79A6-4D0E-B98D-B06D8834444A}"/>
              </a:ext>
            </a:extLst>
          </p:cNvPr>
          <p:cNvSpPr txBox="1"/>
          <p:nvPr/>
        </p:nvSpPr>
        <p:spPr>
          <a:xfrm>
            <a:off x="111125" y="6284238"/>
            <a:ext cx="6096000" cy="430887"/>
          </a:xfrm>
          <a:prstGeom prst="rect">
            <a:avLst/>
          </a:prstGeom>
          <a:noFill/>
        </p:spPr>
        <p:txBody>
          <a:bodyPr wrap="square">
            <a:spAutoFit/>
          </a:bodyPr>
          <a:lstStyle/>
          <a:p>
            <a:r>
              <a:rPr lang="en-IN" sz="1100" dirty="0">
                <a:hlinkClick r:id="rId3"/>
              </a:rPr>
              <a:t>https://ashutoshtripathi.com/2019/06/17/logistic-regression-with-an-example-in-r/</a:t>
            </a:r>
            <a:endParaRPr lang="en-IN" sz="1100" dirty="0"/>
          </a:p>
          <a:p>
            <a:r>
              <a:rPr lang="en-IN" sz="1100" dirty="0"/>
              <a:t>http://courses.atlas.illinois.edu/spring2016/STAT/STAT200/RProgramming/Maximum_Likelihood.html</a:t>
            </a:r>
          </a:p>
        </p:txBody>
      </p:sp>
      <p:pic>
        <p:nvPicPr>
          <p:cNvPr id="10246" name="Picture 6">
            <a:extLst>
              <a:ext uri="{FF2B5EF4-FFF2-40B4-BE49-F238E27FC236}">
                <a16:creationId xmlns:a16="http://schemas.microsoft.com/office/drawing/2014/main" id="{6FEE8DB6-EB6D-4D18-B0E6-D4B8B175D7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8515" y="1431180"/>
            <a:ext cx="5480610" cy="3914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020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5666C-42B9-B0EE-2443-89B476AD599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91DC0E5-92C6-3710-2A99-282027214884}"/>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Day 2</a:t>
            </a:r>
          </a:p>
        </p:txBody>
      </p:sp>
      <p:sp>
        <p:nvSpPr>
          <p:cNvPr id="3" name="Rectangle 2">
            <a:extLst>
              <a:ext uri="{FF2B5EF4-FFF2-40B4-BE49-F238E27FC236}">
                <a16:creationId xmlns:a16="http://schemas.microsoft.com/office/drawing/2014/main" id="{17E84D77-2A56-2745-2C64-75DF36833D37}"/>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Tree>
    <p:extLst>
      <p:ext uri="{BB962C8B-B14F-4D97-AF65-F5344CB8AC3E}">
        <p14:creationId xmlns:p14="http://schemas.microsoft.com/office/powerpoint/2010/main" val="4165690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Confusion Matrix</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pic>
        <p:nvPicPr>
          <p:cNvPr id="7" name="Google Shape;338;p22">
            <a:extLst>
              <a:ext uri="{FF2B5EF4-FFF2-40B4-BE49-F238E27FC236}">
                <a16:creationId xmlns:a16="http://schemas.microsoft.com/office/drawing/2014/main" id="{E8CACDF9-22D7-486D-BA75-DF08D5E9595F}"/>
              </a:ext>
            </a:extLst>
          </p:cNvPr>
          <p:cNvPicPr preferRelativeResize="0"/>
          <p:nvPr/>
        </p:nvPicPr>
        <p:blipFill>
          <a:blip r:embed="rId2">
            <a:alphaModFix/>
          </a:blip>
          <a:stretch>
            <a:fillRect/>
          </a:stretch>
        </p:blipFill>
        <p:spPr>
          <a:xfrm>
            <a:off x="689113" y="2159930"/>
            <a:ext cx="4759038" cy="3034921"/>
          </a:xfrm>
          <a:prstGeom prst="rect">
            <a:avLst/>
          </a:prstGeom>
          <a:noFill/>
          <a:ln>
            <a:noFill/>
          </a:ln>
        </p:spPr>
      </p:pic>
      <p:pic>
        <p:nvPicPr>
          <p:cNvPr id="8" name="Google Shape;339;p22">
            <a:extLst>
              <a:ext uri="{FF2B5EF4-FFF2-40B4-BE49-F238E27FC236}">
                <a16:creationId xmlns:a16="http://schemas.microsoft.com/office/drawing/2014/main" id="{99E570A4-E824-4A87-8B4F-9613710C4440}"/>
              </a:ext>
            </a:extLst>
          </p:cNvPr>
          <p:cNvPicPr preferRelativeResize="0"/>
          <p:nvPr/>
        </p:nvPicPr>
        <p:blipFill>
          <a:blip r:embed="rId3">
            <a:alphaModFix/>
          </a:blip>
          <a:stretch>
            <a:fillRect/>
          </a:stretch>
        </p:blipFill>
        <p:spPr>
          <a:xfrm>
            <a:off x="5795635" y="1690754"/>
            <a:ext cx="5389200" cy="4445003"/>
          </a:xfrm>
          <a:prstGeom prst="rect">
            <a:avLst/>
          </a:prstGeom>
          <a:noFill/>
          <a:ln>
            <a:noFill/>
          </a:ln>
        </p:spPr>
      </p:pic>
    </p:spTree>
    <p:extLst>
      <p:ext uri="{BB962C8B-B14F-4D97-AF65-F5344CB8AC3E}">
        <p14:creationId xmlns:p14="http://schemas.microsoft.com/office/powerpoint/2010/main" val="1050467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Evaluation Matrix</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pic>
        <p:nvPicPr>
          <p:cNvPr id="10" name="Google Shape;347;p23">
            <a:extLst>
              <a:ext uri="{FF2B5EF4-FFF2-40B4-BE49-F238E27FC236}">
                <a16:creationId xmlns:a16="http://schemas.microsoft.com/office/drawing/2014/main" id="{079FDA6D-0E28-422F-9808-DF0A7AC6BC57}"/>
              </a:ext>
            </a:extLst>
          </p:cNvPr>
          <p:cNvPicPr preferRelativeResize="0"/>
          <p:nvPr/>
        </p:nvPicPr>
        <p:blipFill rotWithShape="1">
          <a:blip r:embed="rId2">
            <a:alphaModFix/>
          </a:blip>
          <a:srcRect t="1" b="14435"/>
          <a:stretch/>
        </p:blipFill>
        <p:spPr>
          <a:xfrm>
            <a:off x="1616765" y="1614539"/>
            <a:ext cx="8958470" cy="3567062"/>
          </a:xfrm>
          <a:prstGeom prst="rect">
            <a:avLst/>
          </a:prstGeom>
          <a:noFill/>
          <a:ln>
            <a:noFill/>
          </a:ln>
        </p:spPr>
      </p:pic>
      <p:sp>
        <p:nvSpPr>
          <p:cNvPr id="11" name="Google Shape;346;p23">
            <a:extLst>
              <a:ext uri="{FF2B5EF4-FFF2-40B4-BE49-F238E27FC236}">
                <a16:creationId xmlns:a16="http://schemas.microsoft.com/office/drawing/2014/main" id="{0BD2C01F-EEC0-4E97-AB31-0E8A051CE055}"/>
              </a:ext>
            </a:extLst>
          </p:cNvPr>
          <p:cNvSpPr txBox="1"/>
          <p:nvPr/>
        </p:nvSpPr>
        <p:spPr>
          <a:xfrm>
            <a:off x="307076" y="6344325"/>
            <a:ext cx="3000000" cy="37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i="1" dirty="0"/>
              <a:t>Reference </a:t>
            </a:r>
            <a:r>
              <a:rPr lang="en" sz="1100" dirty="0"/>
              <a:t>-</a:t>
            </a:r>
            <a:r>
              <a:rPr lang="en" sz="1100" u="sng" dirty="0">
                <a:solidFill>
                  <a:schemeClr val="hlink"/>
                </a:solidFill>
                <a:hlinkClick r:id="rId3"/>
              </a:rPr>
              <a:t>https://www.researchgate.net/</a:t>
            </a:r>
            <a:endParaRPr dirty="0"/>
          </a:p>
        </p:txBody>
      </p:sp>
    </p:spTree>
    <p:extLst>
      <p:ext uri="{BB962C8B-B14F-4D97-AF65-F5344CB8AC3E}">
        <p14:creationId xmlns:p14="http://schemas.microsoft.com/office/powerpoint/2010/main" val="220618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Receiver Operating Characteristics curve</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pic>
        <p:nvPicPr>
          <p:cNvPr id="9" name="Google Shape;340;p22">
            <a:extLst>
              <a:ext uri="{FF2B5EF4-FFF2-40B4-BE49-F238E27FC236}">
                <a16:creationId xmlns:a16="http://schemas.microsoft.com/office/drawing/2014/main" id="{CFBA2D21-BA57-4245-B526-C494AE5E8FA8}"/>
              </a:ext>
            </a:extLst>
          </p:cNvPr>
          <p:cNvPicPr preferRelativeResize="0"/>
          <p:nvPr/>
        </p:nvPicPr>
        <p:blipFill>
          <a:blip r:embed="rId2">
            <a:alphaModFix/>
          </a:blip>
          <a:stretch>
            <a:fillRect/>
          </a:stretch>
        </p:blipFill>
        <p:spPr>
          <a:xfrm>
            <a:off x="3180522" y="1842053"/>
            <a:ext cx="5155096" cy="3856382"/>
          </a:xfrm>
          <a:prstGeom prst="rect">
            <a:avLst/>
          </a:prstGeom>
          <a:noFill/>
          <a:ln>
            <a:noFill/>
          </a:ln>
        </p:spPr>
      </p:pic>
    </p:spTree>
    <p:extLst>
      <p:ext uri="{BB962C8B-B14F-4D97-AF65-F5344CB8AC3E}">
        <p14:creationId xmlns:p14="http://schemas.microsoft.com/office/powerpoint/2010/main" val="2225593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27000" y="66260"/>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Assumptions of Logistics Regression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8DC58994-31F6-4E2E-95CA-76CA75B8C55A}"/>
              </a:ext>
            </a:extLst>
          </p:cNvPr>
          <p:cNvSpPr txBox="1"/>
          <p:nvPr/>
        </p:nvSpPr>
        <p:spPr>
          <a:xfrm>
            <a:off x="384486" y="1512098"/>
            <a:ext cx="6502974" cy="2185214"/>
          </a:xfrm>
          <a:prstGeom prst="rect">
            <a:avLst/>
          </a:prstGeom>
          <a:noFill/>
        </p:spPr>
        <p:txBody>
          <a:bodyPr wrap="square">
            <a:spAutoFit/>
          </a:bodyPr>
          <a:lstStyle/>
          <a:p>
            <a:pPr marL="482600" lvl="0" indent="-342900" algn="l" rtl="0">
              <a:spcBef>
                <a:spcPts val="1600"/>
              </a:spcBef>
              <a:spcAft>
                <a:spcPts val="0"/>
              </a:spcAft>
              <a:buSzPts val="1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Dependent variable is categorical </a:t>
            </a:r>
          </a:p>
          <a:p>
            <a:pPr marL="482600" lvl="0" indent="-342900" algn="l" rtl="0">
              <a:spcBef>
                <a:spcPts val="1600"/>
              </a:spcBef>
              <a:spcAft>
                <a:spcPts val="0"/>
              </a:spcAft>
              <a:buSzPts val="1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Observations are independent of each other</a:t>
            </a:r>
          </a:p>
          <a:p>
            <a:pPr marL="482600" lvl="0" indent="-342900" algn="l" rtl="0">
              <a:spcBef>
                <a:spcPts val="1600"/>
              </a:spcBef>
              <a:spcAft>
                <a:spcPts val="0"/>
              </a:spcAft>
              <a:buSzPts val="1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Little/no multicollinearity between features</a:t>
            </a:r>
          </a:p>
          <a:p>
            <a:pPr marL="482600" lvl="0" indent="-342900" algn="l" rtl="0">
              <a:spcBef>
                <a:spcPts val="1600"/>
              </a:spcBef>
              <a:spcAft>
                <a:spcPts val="0"/>
              </a:spcAft>
              <a:buSzPts val="1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Linearity of features and log odds</a:t>
            </a:r>
          </a:p>
        </p:txBody>
      </p:sp>
      <p:pic>
        <p:nvPicPr>
          <p:cNvPr id="6" name="Google Shape;316;p19">
            <a:extLst>
              <a:ext uri="{FF2B5EF4-FFF2-40B4-BE49-F238E27FC236}">
                <a16:creationId xmlns:a16="http://schemas.microsoft.com/office/drawing/2014/main" id="{37B55D89-83A4-446E-A8DC-15DCDC77F7E0}"/>
              </a:ext>
            </a:extLst>
          </p:cNvPr>
          <p:cNvPicPr preferRelativeResize="0"/>
          <p:nvPr/>
        </p:nvPicPr>
        <p:blipFill>
          <a:blip r:embed="rId2">
            <a:alphaModFix/>
          </a:blip>
          <a:stretch>
            <a:fillRect/>
          </a:stretch>
        </p:blipFill>
        <p:spPr>
          <a:xfrm>
            <a:off x="6887460" y="1512098"/>
            <a:ext cx="4072088" cy="2688841"/>
          </a:xfrm>
          <a:prstGeom prst="rect">
            <a:avLst/>
          </a:prstGeom>
          <a:noFill/>
          <a:ln>
            <a:noFill/>
          </a:ln>
        </p:spPr>
      </p:pic>
    </p:spTree>
    <p:extLst>
      <p:ext uri="{BB962C8B-B14F-4D97-AF65-F5344CB8AC3E}">
        <p14:creationId xmlns:p14="http://schemas.microsoft.com/office/powerpoint/2010/main" val="725569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23C1DF-F95C-4FE1-A8AD-9C58DC10F582}"/>
              </a:ext>
            </a:extLst>
          </p:cNvPr>
          <p:cNvSpPr/>
          <p:nvPr/>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Cross Validation</a:t>
            </a:r>
          </a:p>
        </p:txBody>
      </p:sp>
    </p:spTree>
    <p:extLst>
      <p:ext uri="{BB962C8B-B14F-4D97-AF65-F5344CB8AC3E}">
        <p14:creationId xmlns:p14="http://schemas.microsoft.com/office/powerpoint/2010/main" val="37583695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Cross Validation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50" b="1" dirty="0">
              <a:solidFill>
                <a:schemeClr val="tx1"/>
              </a:solidFill>
              <a:latin typeface="Times New Roman" pitchFamily="18" charset="0"/>
              <a:cs typeface="Times New Roman" pitchFamily="18" charset="0"/>
            </a:endParaRPr>
          </a:p>
        </p:txBody>
      </p:sp>
      <p:sp>
        <p:nvSpPr>
          <p:cNvPr id="6" name="Google Shape;306;p17">
            <a:extLst>
              <a:ext uri="{FF2B5EF4-FFF2-40B4-BE49-F238E27FC236}">
                <a16:creationId xmlns:a16="http://schemas.microsoft.com/office/drawing/2014/main" id="{3A609E66-66DC-41B5-BAC4-E7ACE965AA89}"/>
              </a:ext>
            </a:extLst>
          </p:cNvPr>
          <p:cNvSpPr txBox="1">
            <a:spLocks/>
          </p:cNvSpPr>
          <p:nvPr/>
        </p:nvSpPr>
        <p:spPr>
          <a:xfrm>
            <a:off x="494144" y="1489367"/>
            <a:ext cx="11379804" cy="1823676"/>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A resam</a:t>
            </a:r>
            <a:r>
              <a:rPr lang="en-US" sz="2000" dirty="0">
                <a:solidFill>
                  <a:srgbClr val="000000"/>
                </a:solidFill>
                <a:latin typeface="Times New Roman" panose="02020603050405020304" pitchFamily="18" charset="0"/>
                <a:cs typeface="Times New Roman" panose="02020603050405020304" pitchFamily="18" charset="0"/>
              </a:rPr>
              <a:t>pling method</a:t>
            </a:r>
          </a:p>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K fold cross validation</a:t>
            </a:r>
          </a:p>
        </p:txBody>
      </p:sp>
      <p:pic>
        <p:nvPicPr>
          <p:cNvPr id="18434" name="Picture 2">
            <a:extLst>
              <a:ext uri="{FF2B5EF4-FFF2-40B4-BE49-F238E27FC236}">
                <a16:creationId xmlns:a16="http://schemas.microsoft.com/office/drawing/2014/main" id="{972BD18B-14CE-4DE5-AB0D-F3403EC222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75" t="1919" r="724" b="72150"/>
          <a:stretch/>
        </p:blipFill>
        <p:spPr bwMode="auto">
          <a:xfrm>
            <a:off x="4253948" y="1815548"/>
            <a:ext cx="7156174" cy="113968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682AAF7-51FA-40FE-B946-60614609FD8E}"/>
              </a:ext>
            </a:extLst>
          </p:cNvPr>
          <p:cNvSpPr txBox="1"/>
          <p:nvPr/>
        </p:nvSpPr>
        <p:spPr>
          <a:xfrm>
            <a:off x="156886" y="6476750"/>
            <a:ext cx="6096000" cy="246221"/>
          </a:xfrm>
          <a:prstGeom prst="rect">
            <a:avLst/>
          </a:prstGeom>
          <a:noFill/>
        </p:spPr>
        <p:txBody>
          <a:bodyPr wrap="square">
            <a:spAutoFit/>
          </a:bodyPr>
          <a:lstStyle/>
          <a:p>
            <a:r>
              <a:rPr lang="en-IN" sz="1000" dirty="0"/>
              <a:t>https://medium.com/the-owl/k-fold-cross-validation-in-keras-3ec4a3a00538</a:t>
            </a:r>
          </a:p>
        </p:txBody>
      </p:sp>
    </p:spTree>
    <p:extLst>
      <p:ext uri="{BB962C8B-B14F-4D97-AF65-F5344CB8AC3E}">
        <p14:creationId xmlns:p14="http://schemas.microsoft.com/office/powerpoint/2010/main" val="4224595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Cross Validation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50" b="1" dirty="0">
              <a:solidFill>
                <a:schemeClr val="tx1"/>
              </a:solidFill>
              <a:latin typeface="Times New Roman" pitchFamily="18" charset="0"/>
              <a:cs typeface="Times New Roman" pitchFamily="18" charset="0"/>
            </a:endParaRPr>
          </a:p>
        </p:txBody>
      </p:sp>
      <p:sp>
        <p:nvSpPr>
          <p:cNvPr id="6" name="Google Shape;306;p17">
            <a:extLst>
              <a:ext uri="{FF2B5EF4-FFF2-40B4-BE49-F238E27FC236}">
                <a16:creationId xmlns:a16="http://schemas.microsoft.com/office/drawing/2014/main" id="{3A609E66-66DC-41B5-BAC4-E7ACE965AA89}"/>
              </a:ext>
            </a:extLst>
          </p:cNvPr>
          <p:cNvSpPr txBox="1">
            <a:spLocks/>
          </p:cNvSpPr>
          <p:nvPr/>
        </p:nvSpPr>
        <p:spPr>
          <a:xfrm>
            <a:off x="494144" y="1489367"/>
            <a:ext cx="11379804" cy="1823676"/>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A resam</a:t>
            </a:r>
            <a:r>
              <a:rPr lang="en-US" sz="2000" dirty="0">
                <a:solidFill>
                  <a:srgbClr val="000000"/>
                </a:solidFill>
                <a:latin typeface="Times New Roman" panose="02020603050405020304" pitchFamily="18" charset="0"/>
                <a:cs typeface="Times New Roman" panose="02020603050405020304" pitchFamily="18" charset="0"/>
              </a:rPr>
              <a:t>pling method</a:t>
            </a:r>
          </a:p>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K fold cross validation</a:t>
            </a:r>
          </a:p>
        </p:txBody>
      </p:sp>
      <p:pic>
        <p:nvPicPr>
          <p:cNvPr id="18434" name="Picture 2">
            <a:extLst>
              <a:ext uri="{FF2B5EF4-FFF2-40B4-BE49-F238E27FC236}">
                <a16:creationId xmlns:a16="http://schemas.microsoft.com/office/drawing/2014/main" id="{972BD18B-14CE-4DE5-AB0D-F3403EC222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56" t="2523" r="3622" b="59379"/>
          <a:stretch/>
        </p:blipFill>
        <p:spPr bwMode="auto">
          <a:xfrm>
            <a:off x="4267200" y="1842052"/>
            <a:ext cx="6930887" cy="167448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682AAF7-51FA-40FE-B946-60614609FD8E}"/>
              </a:ext>
            </a:extLst>
          </p:cNvPr>
          <p:cNvSpPr txBox="1"/>
          <p:nvPr/>
        </p:nvSpPr>
        <p:spPr>
          <a:xfrm>
            <a:off x="156886" y="6476750"/>
            <a:ext cx="6096000" cy="246221"/>
          </a:xfrm>
          <a:prstGeom prst="rect">
            <a:avLst/>
          </a:prstGeom>
          <a:noFill/>
        </p:spPr>
        <p:txBody>
          <a:bodyPr wrap="square">
            <a:spAutoFit/>
          </a:bodyPr>
          <a:lstStyle/>
          <a:p>
            <a:r>
              <a:rPr lang="en-IN" sz="1000" dirty="0"/>
              <a:t>https://medium.com/the-owl/k-fold-cross-validation-in-keras-3ec4a3a00538</a:t>
            </a:r>
          </a:p>
        </p:txBody>
      </p:sp>
    </p:spTree>
    <p:extLst>
      <p:ext uri="{BB962C8B-B14F-4D97-AF65-F5344CB8AC3E}">
        <p14:creationId xmlns:p14="http://schemas.microsoft.com/office/powerpoint/2010/main" val="755906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Cross Validation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50" b="1" dirty="0">
              <a:solidFill>
                <a:schemeClr val="tx1"/>
              </a:solidFill>
              <a:latin typeface="Times New Roman" pitchFamily="18" charset="0"/>
              <a:cs typeface="Times New Roman" pitchFamily="18" charset="0"/>
            </a:endParaRPr>
          </a:p>
        </p:txBody>
      </p:sp>
      <p:sp>
        <p:nvSpPr>
          <p:cNvPr id="6" name="Google Shape;306;p17">
            <a:extLst>
              <a:ext uri="{FF2B5EF4-FFF2-40B4-BE49-F238E27FC236}">
                <a16:creationId xmlns:a16="http://schemas.microsoft.com/office/drawing/2014/main" id="{3A609E66-66DC-41B5-BAC4-E7ACE965AA89}"/>
              </a:ext>
            </a:extLst>
          </p:cNvPr>
          <p:cNvSpPr txBox="1">
            <a:spLocks/>
          </p:cNvSpPr>
          <p:nvPr/>
        </p:nvSpPr>
        <p:spPr>
          <a:xfrm>
            <a:off x="494144" y="1489367"/>
            <a:ext cx="11379804" cy="1823676"/>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A resam</a:t>
            </a:r>
            <a:r>
              <a:rPr lang="en-US" sz="2000" dirty="0">
                <a:solidFill>
                  <a:srgbClr val="000000"/>
                </a:solidFill>
                <a:latin typeface="Times New Roman" panose="02020603050405020304" pitchFamily="18" charset="0"/>
                <a:cs typeface="Times New Roman" panose="02020603050405020304" pitchFamily="18" charset="0"/>
              </a:rPr>
              <a:t>pling method</a:t>
            </a:r>
          </a:p>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K fold cross validation</a:t>
            </a:r>
          </a:p>
        </p:txBody>
      </p:sp>
      <p:pic>
        <p:nvPicPr>
          <p:cNvPr id="18434" name="Picture 2">
            <a:extLst>
              <a:ext uri="{FF2B5EF4-FFF2-40B4-BE49-F238E27FC236}">
                <a16:creationId xmlns:a16="http://schemas.microsoft.com/office/drawing/2014/main" id="{972BD18B-14CE-4DE5-AB0D-F3403EC222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80" t="1015" r="2716" b="45013"/>
          <a:stretch/>
        </p:blipFill>
        <p:spPr bwMode="auto">
          <a:xfrm>
            <a:off x="4320209" y="1775791"/>
            <a:ext cx="6944139" cy="23721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682AAF7-51FA-40FE-B946-60614609FD8E}"/>
              </a:ext>
            </a:extLst>
          </p:cNvPr>
          <p:cNvSpPr txBox="1"/>
          <p:nvPr/>
        </p:nvSpPr>
        <p:spPr>
          <a:xfrm>
            <a:off x="156886" y="6476750"/>
            <a:ext cx="6096000" cy="246221"/>
          </a:xfrm>
          <a:prstGeom prst="rect">
            <a:avLst/>
          </a:prstGeom>
          <a:noFill/>
        </p:spPr>
        <p:txBody>
          <a:bodyPr wrap="square">
            <a:spAutoFit/>
          </a:bodyPr>
          <a:lstStyle/>
          <a:p>
            <a:r>
              <a:rPr lang="en-IN" sz="1000" dirty="0"/>
              <a:t>https://medium.com/the-owl/k-fold-cross-validation-in-keras-3ec4a3a00538</a:t>
            </a:r>
          </a:p>
        </p:txBody>
      </p:sp>
    </p:spTree>
    <p:extLst>
      <p:ext uri="{BB962C8B-B14F-4D97-AF65-F5344CB8AC3E}">
        <p14:creationId xmlns:p14="http://schemas.microsoft.com/office/powerpoint/2010/main" val="1319617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Cross Validation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50" b="1" dirty="0">
              <a:solidFill>
                <a:schemeClr val="tx1"/>
              </a:solidFill>
              <a:latin typeface="Times New Roman" pitchFamily="18" charset="0"/>
              <a:cs typeface="Times New Roman" pitchFamily="18" charset="0"/>
            </a:endParaRPr>
          </a:p>
        </p:txBody>
      </p:sp>
      <p:sp>
        <p:nvSpPr>
          <p:cNvPr id="6" name="Google Shape;306;p17">
            <a:extLst>
              <a:ext uri="{FF2B5EF4-FFF2-40B4-BE49-F238E27FC236}">
                <a16:creationId xmlns:a16="http://schemas.microsoft.com/office/drawing/2014/main" id="{3A609E66-66DC-41B5-BAC4-E7ACE965AA89}"/>
              </a:ext>
            </a:extLst>
          </p:cNvPr>
          <p:cNvSpPr txBox="1">
            <a:spLocks/>
          </p:cNvSpPr>
          <p:nvPr/>
        </p:nvSpPr>
        <p:spPr>
          <a:xfrm>
            <a:off x="494144" y="1489367"/>
            <a:ext cx="11379804" cy="1823676"/>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A resam</a:t>
            </a:r>
            <a:r>
              <a:rPr lang="en-US" sz="2000" dirty="0">
                <a:solidFill>
                  <a:srgbClr val="000000"/>
                </a:solidFill>
                <a:latin typeface="Times New Roman" panose="02020603050405020304" pitchFamily="18" charset="0"/>
                <a:cs typeface="Times New Roman" panose="02020603050405020304" pitchFamily="18" charset="0"/>
              </a:rPr>
              <a:t>pling method</a:t>
            </a:r>
          </a:p>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K fold cross validation</a:t>
            </a:r>
          </a:p>
        </p:txBody>
      </p:sp>
      <p:pic>
        <p:nvPicPr>
          <p:cNvPr id="18434" name="Picture 2">
            <a:extLst>
              <a:ext uri="{FF2B5EF4-FFF2-40B4-BE49-F238E27FC236}">
                <a16:creationId xmlns:a16="http://schemas.microsoft.com/office/drawing/2014/main" id="{972BD18B-14CE-4DE5-AB0D-F3403EC222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00" t="2824" r="1991" b="29033"/>
          <a:stretch/>
        </p:blipFill>
        <p:spPr bwMode="auto">
          <a:xfrm>
            <a:off x="4306958" y="1855305"/>
            <a:ext cx="7010400" cy="299499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682AAF7-51FA-40FE-B946-60614609FD8E}"/>
              </a:ext>
            </a:extLst>
          </p:cNvPr>
          <p:cNvSpPr txBox="1"/>
          <p:nvPr/>
        </p:nvSpPr>
        <p:spPr>
          <a:xfrm>
            <a:off x="156886" y="6476750"/>
            <a:ext cx="6096000" cy="246221"/>
          </a:xfrm>
          <a:prstGeom prst="rect">
            <a:avLst/>
          </a:prstGeom>
          <a:noFill/>
        </p:spPr>
        <p:txBody>
          <a:bodyPr wrap="square">
            <a:spAutoFit/>
          </a:bodyPr>
          <a:lstStyle/>
          <a:p>
            <a:r>
              <a:rPr lang="en-IN" sz="1000" dirty="0"/>
              <a:t>https://medium.com/the-owl/k-fold-cross-validation-in-keras-3ec4a3a00538</a:t>
            </a:r>
          </a:p>
        </p:txBody>
      </p:sp>
    </p:spTree>
    <p:extLst>
      <p:ext uri="{BB962C8B-B14F-4D97-AF65-F5344CB8AC3E}">
        <p14:creationId xmlns:p14="http://schemas.microsoft.com/office/powerpoint/2010/main" val="2486652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Cross Validation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50" b="1" dirty="0">
              <a:solidFill>
                <a:schemeClr val="tx1"/>
              </a:solidFill>
              <a:latin typeface="Times New Roman" pitchFamily="18" charset="0"/>
              <a:cs typeface="Times New Roman" pitchFamily="18" charset="0"/>
            </a:endParaRPr>
          </a:p>
        </p:txBody>
      </p:sp>
      <p:sp>
        <p:nvSpPr>
          <p:cNvPr id="6" name="Google Shape;306;p17">
            <a:extLst>
              <a:ext uri="{FF2B5EF4-FFF2-40B4-BE49-F238E27FC236}">
                <a16:creationId xmlns:a16="http://schemas.microsoft.com/office/drawing/2014/main" id="{3A609E66-66DC-41B5-BAC4-E7ACE965AA89}"/>
              </a:ext>
            </a:extLst>
          </p:cNvPr>
          <p:cNvSpPr txBox="1">
            <a:spLocks/>
          </p:cNvSpPr>
          <p:nvPr/>
        </p:nvSpPr>
        <p:spPr>
          <a:xfrm>
            <a:off x="494144" y="1489367"/>
            <a:ext cx="11379804" cy="1823676"/>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A resam</a:t>
            </a:r>
            <a:r>
              <a:rPr lang="en-US" sz="2000" dirty="0">
                <a:solidFill>
                  <a:srgbClr val="000000"/>
                </a:solidFill>
                <a:latin typeface="Times New Roman" panose="02020603050405020304" pitchFamily="18" charset="0"/>
                <a:cs typeface="Times New Roman" panose="02020603050405020304" pitchFamily="18" charset="0"/>
              </a:rPr>
              <a:t>pling method</a:t>
            </a:r>
          </a:p>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K fold cross validation</a:t>
            </a:r>
          </a:p>
        </p:txBody>
      </p:sp>
      <p:pic>
        <p:nvPicPr>
          <p:cNvPr id="18434" name="Picture 2">
            <a:extLst>
              <a:ext uri="{FF2B5EF4-FFF2-40B4-BE49-F238E27FC236}">
                <a16:creationId xmlns:a16="http://schemas.microsoft.com/office/drawing/2014/main" id="{972BD18B-14CE-4DE5-AB0D-F3403EC222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80" t="2522" r="3260" b="17239"/>
          <a:stretch/>
        </p:blipFill>
        <p:spPr bwMode="auto">
          <a:xfrm>
            <a:off x="4320210" y="1842052"/>
            <a:ext cx="6904382" cy="35265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682AAF7-51FA-40FE-B946-60614609FD8E}"/>
              </a:ext>
            </a:extLst>
          </p:cNvPr>
          <p:cNvSpPr txBox="1"/>
          <p:nvPr/>
        </p:nvSpPr>
        <p:spPr>
          <a:xfrm>
            <a:off x="156886" y="6476750"/>
            <a:ext cx="6096000" cy="246221"/>
          </a:xfrm>
          <a:prstGeom prst="rect">
            <a:avLst/>
          </a:prstGeom>
          <a:noFill/>
        </p:spPr>
        <p:txBody>
          <a:bodyPr wrap="square">
            <a:spAutoFit/>
          </a:bodyPr>
          <a:lstStyle/>
          <a:p>
            <a:r>
              <a:rPr lang="en-IN" sz="1000" dirty="0"/>
              <a:t>https://medium.com/the-owl/k-fold-cross-validation-in-keras-3ec4a3a00538</a:t>
            </a:r>
          </a:p>
        </p:txBody>
      </p:sp>
    </p:spTree>
    <p:extLst>
      <p:ext uri="{BB962C8B-B14F-4D97-AF65-F5344CB8AC3E}">
        <p14:creationId xmlns:p14="http://schemas.microsoft.com/office/powerpoint/2010/main" val="2579027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Cross Validation</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50" b="1" dirty="0">
              <a:solidFill>
                <a:schemeClr val="tx1"/>
              </a:solidFill>
              <a:latin typeface="Times New Roman" pitchFamily="18" charset="0"/>
              <a:cs typeface="Times New Roman" pitchFamily="18" charset="0"/>
            </a:endParaRPr>
          </a:p>
        </p:txBody>
      </p:sp>
      <p:sp>
        <p:nvSpPr>
          <p:cNvPr id="6" name="Google Shape;306;p17">
            <a:extLst>
              <a:ext uri="{FF2B5EF4-FFF2-40B4-BE49-F238E27FC236}">
                <a16:creationId xmlns:a16="http://schemas.microsoft.com/office/drawing/2014/main" id="{3A609E66-66DC-41B5-BAC4-E7ACE965AA89}"/>
              </a:ext>
            </a:extLst>
          </p:cNvPr>
          <p:cNvSpPr txBox="1">
            <a:spLocks/>
          </p:cNvSpPr>
          <p:nvPr/>
        </p:nvSpPr>
        <p:spPr>
          <a:xfrm>
            <a:off x="494144" y="1489367"/>
            <a:ext cx="11379804" cy="1823676"/>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A resam</a:t>
            </a:r>
            <a:r>
              <a:rPr lang="en-US" sz="2000" dirty="0">
                <a:solidFill>
                  <a:srgbClr val="000000"/>
                </a:solidFill>
                <a:latin typeface="Times New Roman" panose="02020603050405020304" pitchFamily="18" charset="0"/>
                <a:cs typeface="Times New Roman" panose="02020603050405020304" pitchFamily="18" charset="0"/>
              </a:rPr>
              <a:t>pling method</a:t>
            </a:r>
          </a:p>
          <a:p>
            <a:pPr marL="342900" indent="-342900" algn="l">
              <a:buFont typeface="Wingdings" panose="05000000000000000000" pitchFamily="2" charset="2"/>
              <a:buChar char="Ø"/>
            </a:pPr>
            <a:r>
              <a:rPr lang="en-US" sz="2000" b="0" i="0" dirty="0">
                <a:solidFill>
                  <a:srgbClr val="000000"/>
                </a:solidFill>
                <a:effectLst/>
                <a:latin typeface="Times New Roman" panose="02020603050405020304" pitchFamily="18" charset="0"/>
                <a:cs typeface="Times New Roman" panose="02020603050405020304" pitchFamily="18" charset="0"/>
              </a:rPr>
              <a:t>K fold cross validation</a:t>
            </a:r>
          </a:p>
        </p:txBody>
      </p:sp>
      <p:pic>
        <p:nvPicPr>
          <p:cNvPr id="18434" name="Picture 2">
            <a:extLst>
              <a:ext uri="{FF2B5EF4-FFF2-40B4-BE49-F238E27FC236}">
                <a16:creationId xmlns:a16="http://schemas.microsoft.com/office/drawing/2014/main" id="{972BD18B-14CE-4DE5-AB0D-F3403EC22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5997" y="1731188"/>
            <a:ext cx="7317133" cy="43951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682AAF7-51FA-40FE-B946-60614609FD8E}"/>
              </a:ext>
            </a:extLst>
          </p:cNvPr>
          <p:cNvSpPr txBox="1"/>
          <p:nvPr/>
        </p:nvSpPr>
        <p:spPr>
          <a:xfrm>
            <a:off x="156886" y="6476750"/>
            <a:ext cx="6096000" cy="246221"/>
          </a:xfrm>
          <a:prstGeom prst="rect">
            <a:avLst/>
          </a:prstGeom>
          <a:noFill/>
        </p:spPr>
        <p:txBody>
          <a:bodyPr wrap="square">
            <a:spAutoFit/>
          </a:bodyPr>
          <a:lstStyle/>
          <a:p>
            <a:r>
              <a:rPr lang="en-IN" sz="1000" dirty="0"/>
              <a:t>https://medium.com/the-owl/k-fold-cross-validation-in-keras-3ec4a3a00538</a:t>
            </a:r>
          </a:p>
        </p:txBody>
      </p:sp>
    </p:spTree>
    <p:extLst>
      <p:ext uri="{BB962C8B-B14F-4D97-AF65-F5344CB8AC3E}">
        <p14:creationId xmlns:p14="http://schemas.microsoft.com/office/powerpoint/2010/main" val="16483265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23C1DF-F95C-4FE1-A8AD-9C58DC10F582}"/>
              </a:ext>
            </a:extLst>
          </p:cNvPr>
          <p:cNvSpPr/>
          <p:nvPr/>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Decision Tree</a:t>
            </a:r>
          </a:p>
        </p:txBody>
      </p:sp>
    </p:spTree>
    <p:extLst>
      <p:ext uri="{BB962C8B-B14F-4D97-AF65-F5344CB8AC3E}">
        <p14:creationId xmlns:p14="http://schemas.microsoft.com/office/powerpoint/2010/main" val="19286382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Decision Tree</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4C034A05-7FF5-462B-B888-AA1974FD148B}"/>
              </a:ext>
            </a:extLst>
          </p:cNvPr>
          <p:cNvSpPr txBox="1"/>
          <p:nvPr/>
        </p:nvSpPr>
        <p:spPr>
          <a:xfrm>
            <a:off x="411163" y="1630363"/>
            <a:ext cx="5340280" cy="4154984"/>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Machine Learning model used for classification and regression analysis. </a:t>
            </a:r>
          </a:p>
          <a:p>
            <a:pPr marL="342900" indent="-342900" algn="l">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Popular in decision making because they are easy to interpret.</a:t>
            </a:r>
          </a:p>
          <a:p>
            <a:pPr marL="342900" indent="-342900" algn="l">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Consider the whole training set as the root, to start with</a:t>
            </a:r>
          </a:p>
          <a:p>
            <a:pPr marL="342900" indent="-342900" algn="l">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Feature values are preferred to be categorical. If the values are continuous then they are bucketed prior to building the model</a:t>
            </a:r>
          </a:p>
          <a:p>
            <a:pPr marL="342900" indent="-342900" algn="l">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Non-parametric model</a:t>
            </a:r>
          </a:p>
        </p:txBody>
      </p:sp>
      <p:sp>
        <p:nvSpPr>
          <p:cNvPr id="7" name="TextBox 6">
            <a:extLst>
              <a:ext uri="{FF2B5EF4-FFF2-40B4-BE49-F238E27FC236}">
                <a16:creationId xmlns:a16="http://schemas.microsoft.com/office/drawing/2014/main" id="{E79AB240-4123-4AA0-89F5-2CAE8359C45A}"/>
              </a:ext>
            </a:extLst>
          </p:cNvPr>
          <p:cNvSpPr txBox="1"/>
          <p:nvPr/>
        </p:nvSpPr>
        <p:spPr>
          <a:xfrm>
            <a:off x="142875" y="6484293"/>
            <a:ext cx="6096000" cy="230832"/>
          </a:xfrm>
          <a:prstGeom prst="rect">
            <a:avLst/>
          </a:prstGeom>
          <a:noFill/>
        </p:spPr>
        <p:txBody>
          <a:bodyPr wrap="square">
            <a:spAutoFit/>
          </a:bodyPr>
          <a:lstStyle/>
          <a:p>
            <a:r>
              <a:rPr lang="en-IN" sz="900" dirty="0"/>
              <a:t>https://dimensionless.in/building-blocks-of-decision-tree/</a:t>
            </a:r>
          </a:p>
        </p:txBody>
      </p:sp>
      <p:pic>
        <p:nvPicPr>
          <p:cNvPr id="1026" name="Picture 2" descr="Building Blocks of Decision Tree | Data Science Blog | Dimensionless">
            <a:extLst>
              <a:ext uri="{FF2B5EF4-FFF2-40B4-BE49-F238E27FC236}">
                <a16:creationId xmlns:a16="http://schemas.microsoft.com/office/drawing/2014/main" id="{D65FC881-0C12-4F22-B2AF-02CDD2ABB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1443" y="1630363"/>
            <a:ext cx="5800725" cy="360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827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Different Nodes</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4C034A05-7FF5-462B-B888-AA1974FD148B}"/>
              </a:ext>
            </a:extLst>
          </p:cNvPr>
          <p:cNvSpPr txBox="1"/>
          <p:nvPr/>
        </p:nvSpPr>
        <p:spPr>
          <a:xfrm>
            <a:off x="411163" y="1630363"/>
            <a:ext cx="5340280" cy="1938992"/>
          </a:xfrm>
          <a:prstGeom prst="rect">
            <a:avLst/>
          </a:prstGeom>
          <a:noFill/>
        </p:spPr>
        <p:txBody>
          <a:bodyPr wrap="square">
            <a:spAutoFit/>
          </a:bodyPr>
          <a:lstStyle/>
          <a:p>
            <a:pPr marL="342900" indent="-342900" algn="l">
              <a:buFont typeface="Wingdings" panose="05000000000000000000" pitchFamily="2" charset="2"/>
              <a:buChar char="Ø"/>
            </a:pPr>
            <a:r>
              <a:rPr lang="en-US" sz="2400" b="1" i="0" dirty="0">
                <a:solidFill>
                  <a:srgbClr val="000000"/>
                </a:solidFill>
                <a:effectLst/>
                <a:latin typeface="Times New Roman" panose="02020603050405020304" pitchFamily="18" charset="0"/>
                <a:cs typeface="Times New Roman" panose="02020603050405020304" pitchFamily="18" charset="0"/>
              </a:rPr>
              <a:t>Root node</a:t>
            </a:r>
          </a:p>
          <a:p>
            <a:pPr marL="342900" indent="-342900" algn="l">
              <a:buFont typeface="Wingdings" panose="05000000000000000000" pitchFamily="2" charset="2"/>
              <a:buChar char="Ø"/>
            </a:pPr>
            <a:r>
              <a:rPr lang="en-US" sz="2400" b="1" dirty="0">
                <a:solidFill>
                  <a:srgbClr val="000000"/>
                </a:solidFill>
                <a:latin typeface="Times New Roman" panose="02020603050405020304" pitchFamily="18" charset="0"/>
                <a:cs typeface="Times New Roman" panose="02020603050405020304" pitchFamily="18" charset="0"/>
              </a:rPr>
              <a:t>Decision node</a:t>
            </a:r>
          </a:p>
          <a:p>
            <a:pPr marL="342900" indent="-342900" algn="l">
              <a:buFont typeface="Wingdings" panose="05000000000000000000" pitchFamily="2" charset="2"/>
              <a:buChar char="Ø"/>
            </a:pPr>
            <a:r>
              <a:rPr lang="en-US" sz="2400" b="1" dirty="0">
                <a:solidFill>
                  <a:srgbClr val="000000"/>
                </a:solidFill>
                <a:latin typeface="Times New Roman" panose="02020603050405020304" pitchFamily="18" charset="0"/>
                <a:cs typeface="Times New Roman" panose="02020603050405020304" pitchFamily="18" charset="0"/>
              </a:rPr>
              <a:t>Leaf node</a:t>
            </a:r>
          </a:p>
          <a:p>
            <a:pPr marL="342900" indent="-342900" algn="l">
              <a:buFont typeface="Wingdings" panose="05000000000000000000" pitchFamily="2" charset="2"/>
              <a:buChar char="Ø"/>
            </a:pPr>
            <a:endParaRPr lang="en-US" sz="2400" dirty="0">
              <a:solidFill>
                <a:srgbClr val="000000"/>
              </a:solidFill>
              <a:latin typeface="Times New Roman" panose="02020603050405020304" pitchFamily="18" charset="0"/>
              <a:cs typeface="Times New Roman" panose="02020603050405020304" pitchFamily="18" charset="0"/>
            </a:endParaRPr>
          </a:p>
          <a:p>
            <a:pPr algn="l"/>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79AB240-4123-4AA0-89F5-2CAE8359C45A}"/>
              </a:ext>
            </a:extLst>
          </p:cNvPr>
          <p:cNvSpPr txBox="1"/>
          <p:nvPr/>
        </p:nvSpPr>
        <p:spPr>
          <a:xfrm>
            <a:off x="142875" y="6484293"/>
            <a:ext cx="6096000" cy="230832"/>
          </a:xfrm>
          <a:prstGeom prst="rect">
            <a:avLst/>
          </a:prstGeom>
          <a:noFill/>
        </p:spPr>
        <p:txBody>
          <a:bodyPr wrap="square">
            <a:spAutoFit/>
          </a:bodyPr>
          <a:lstStyle/>
          <a:p>
            <a:r>
              <a:rPr lang="en-IN" sz="900" dirty="0"/>
              <a:t>https://www.datacamp.com/tutorial/decision-tree-classification-python</a:t>
            </a:r>
          </a:p>
        </p:txBody>
      </p:sp>
      <p:pic>
        <p:nvPicPr>
          <p:cNvPr id="2050" name="Picture 2" descr="decision tree example for heart attack prevention">
            <a:extLst>
              <a:ext uri="{FF2B5EF4-FFF2-40B4-BE49-F238E27FC236}">
                <a16:creationId xmlns:a16="http://schemas.microsoft.com/office/drawing/2014/main" id="{D1160737-D333-4B84-834F-217D95EA8E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9788" y="1630363"/>
            <a:ext cx="6014104" cy="3785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6076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Splitting</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4C034A05-7FF5-462B-B888-AA1974FD148B}"/>
              </a:ext>
            </a:extLst>
          </p:cNvPr>
          <p:cNvSpPr txBox="1"/>
          <p:nvPr/>
        </p:nvSpPr>
        <p:spPr>
          <a:xfrm>
            <a:off x="344901" y="1394723"/>
            <a:ext cx="9978541" cy="1569660"/>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It is the splitting of data sets into subgroups. </a:t>
            </a:r>
          </a:p>
          <a:p>
            <a:pPr marL="342900" indent="-342900" algn="l">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As demonstrated in the figure below, splitting can be done depending on a variety of factors, including class, height, and gender.</a:t>
            </a:r>
          </a:p>
          <a:p>
            <a:pPr marL="342900" indent="-342900" algn="l">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But which one is best</a:t>
            </a:r>
          </a:p>
        </p:txBody>
      </p:sp>
      <p:sp>
        <p:nvSpPr>
          <p:cNvPr id="7" name="TextBox 6">
            <a:extLst>
              <a:ext uri="{FF2B5EF4-FFF2-40B4-BE49-F238E27FC236}">
                <a16:creationId xmlns:a16="http://schemas.microsoft.com/office/drawing/2014/main" id="{E79AB240-4123-4AA0-89F5-2CAE8359C45A}"/>
              </a:ext>
            </a:extLst>
          </p:cNvPr>
          <p:cNvSpPr txBox="1"/>
          <p:nvPr/>
        </p:nvSpPr>
        <p:spPr>
          <a:xfrm>
            <a:off x="142875" y="6484293"/>
            <a:ext cx="6096000" cy="230832"/>
          </a:xfrm>
          <a:prstGeom prst="rect">
            <a:avLst/>
          </a:prstGeom>
          <a:noFill/>
        </p:spPr>
        <p:txBody>
          <a:bodyPr wrap="square">
            <a:spAutoFit/>
          </a:bodyPr>
          <a:lstStyle/>
          <a:p>
            <a:r>
              <a:rPr lang="en" sz="900" u="sng" dirty="0">
                <a:solidFill>
                  <a:schemeClr val="hlink"/>
                </a:solidFill>
                <a:hlinkClick r:id="rId2"/>
              </a:rPr>
              <a:t>https://www.analyticsvidhya.com/</a:t>
            </a:r>
            <a:endParaRPr lang="en-IN" sz="900" dirty="0"/>
          </a:p>
        </p:txBody>
      </p:sp>
      <p:pic>
        <p:nvPicPr>
          <p:cNvPr id="3074" name="Picture 2">
            <a:extLst>
              <a:ext uri="{FF2B5EF4-FFF2-40B4-BE49-F238E27FC236}">
                <a16:creationId xmlns:a16="http://schemas.microsoft.com/office/drawing/2014/main" id="{9423949A-3EAC-4714-9212-2C2696A0AE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531" y="3722043"/>
            <a:ext cx="7772400"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15387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Pruning</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4C034A05-7FF5-462B-B888-AA1974FD148B}"/>
              </a:ext>
            </a:extLst>
          </p:cNvPr>
          <p:cNvSpPr txBox="1"/>
          <p:nvPr/>
        </p:nvSpPr>
        <p:spPr>
          <a:xfrm>
            <a:off x="344902" y="1394723"/>
            <a:ext cx="4598160" cy="2677656"/>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It limits the tree depth by reducing the branches of decision tree</a:t>
            </a:r>
          </a:p>
          <a:p>
            <a:pPr marL="342900" indent="-342900" algn="l">
              <a:buFont typeface="Wingdings" panose="05000000000000000000" pitchFamily="2" charset="2"/>
              <a:buChar char="Ø"/>
            </a:pPr>
            <a:endParaRPr lang="en-US" sz="2400" dirty="0">
              <a:solidFill>
                <a:srgbClr val="000000"/>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Pre-pruning (bigger dataset)</a:t>
            </a:r>
          </a:p>
          <a:p>
            <a:pPr marL="800100" lvl="1" indent="-342900">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Post-pruning (smaller dataset)</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79AB240-4123-4AA0-89F5-2CAE8359C45A}"/>
              </a:ext>
            </a:extLst>
          </p:cNvPr>
          <p:cNvSpPr txBox="1"/>
          <p:nvPr/>
        </p:nvSpPr>
        <p:spPr>
          <a:xfrm>
            <a:off x="142875" y="6484293"/>
            <a:ext cx="6096000" cy="230832"/>
          </a:xfrm>
          <a:prstGeom prst="rect">
            <a:avLst/>
          </a:prstGeom>
          <a:noFill/>
        </p:spPr>
        <p:txBody>
          <a:bodyPr wrap="square">
            <a:spAutoFit/>
          </a:bodyPr>
          <a:lstStyle/>
          <a:p>
            <a:r>
              <a:rPr lang="en" sz="900" u="sng" dirty="0">
                <a:solidFill>
                  <a:schemeClr val="hlink"/>
                </a:solidFill>
                <a:hlinkClick r:id="rId2"/>
              </a:rPr>
              <a:t>https://www.analyticsvidhya.com/</a:t>
            </a:r>
            <a:endParaRPr lang="en-IN" sz="900" dirty="0"/>
          </a:p>
        </p:txBody>
      </p:sp>
      <p:pic>
        <p:nvPicPr>
          <p:cNvPr id="4098" name="Picture 2">
            <a:extLst>
              <a:ext uri="{FF2B5EF4-FFF2-40B4-BE49-F238E27FC236}">
                <a16:creationId xmlns:a16="http://schemas.microsoft.com/office/drawing/2014/main" id="{8043DBE1-AABC-41F3-A8CE-44D729F485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4767" y="1857375"/>
            <a:ext cx="6772275"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3692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Algorithm used in Decision Tree</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5" name="TextBox 4">
            <a:extLst>
              <a:ext uri="{FF2B5EF4-FFF2-40B4-BE49-F238E27FC236}">
                <a16:creationId xmlns:a16="http://schemas.microsoft.com/office/drawing/2014/main" id="{4C034A05-7FF5-462B-B888-AA1974FD148B}"/>
              </a:ext>
            </a:extLst>
          </p:cNvPr>
          <p:cNvSpPr txBox="1"/>
          <p:nvPr/>
        </p:nvSpPr>
        <p:spPr>
          <a:xfrm>
            <a:off x="344902" y="1394723"/>
            <a:ext cx="4598160" cy="1569660"/>
          </a:xfrm>
          <a:prstGeom prst="rect">
            <a:avLst/>
          </a:prstGeom>
          <a:noFill/>
        </p:spPr>
        <p:txBody>
          <a:bodyPr wrap="square">
            <a:spAutoFit/>
          </a:bodyPr>
          <a:lstStyle/>
          <a:p>
            <a:pPr marL="342900" indent="-342900" algn="l">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ID3</a:t>
            </a:r>
          </a:p>
          <a:p>
            <a:pPr marL="342900" indent="-342900" algn="l">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C4.5</a:t>
            </a:r>
          </a:p>
          <a:p>
            <a:pPr marL="342900" indent="-342900" algn="l">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CART</a:t>
            </a:r>
          </a:p>
          <a:p>
            <a:pPr marL="342900" indent="-342900" algn="l">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CHAID</a:t>
            </a:r>
          </a:p>
        </p:txBody>
      </p:sp>
      <p:sp>
        <p:nvSpPr>
          <p:cNvPr id="7" name="TextBox 6">
            <a:extLst>
              <a:ext uri="{FF2B5EF4-FFF2-40B4-BE49-F238E27FC236}">
                <a16:creationId xmlns:a16="http://schemas.microsoft.com/office/drawing/2014/main" id="{E79AB240-4123-4AA0-89F5-2CAE8359C45A}"/>
              </a:ext>
            </a:extLst>
          </p:cNvPr>
          <p:cNvSpPr txBox="1"/>
          <p:nvPr/>
        </p:nvSpPr>
        <p:spPr>
          <a:xfrm>
            <a:off x="142875" y="6484293"/>
            <a:ext cx="6096000" cy="230832"/>
          </a:xfrm>
          <a:prstGeom prst="rect">
            <a:avLst/>
          </a:prstGeom>
          <a:noFill/>
        </p:spPr>
        <p:txBody>
          <a:bodyPr wrap="square">
            <a:spAutoFit/>
          </a:bodyPr>
          <a:lstStyle/>
          <a:p>
            <a:r>
              <a:rPr lang="en-IN" sz="900" u="sng" dirty="0">
                <a:solidFill>
                  <a:schemeClr val="hlink"/>
                </a:solidFill>
              </a:rPr>
              <a:t>https://regenerativetoday.com/simple-explanation-on-how-decision-tree-algorithm-makes-decisions/</a:t>
            </a:r>
            <a:endParaRPr lang="en-IN" sz="900" dirty="0"/>
          </a:p>
        </p:txBody>
      </p:sp>
      <p:pic>
        <p:nvPicPr>
          <p:cNvPr id="9218" name="Picture 2" descr="Simple Explanation on How Decision Tree Algorithm Makes Decisions –  Regenerative">
            <a:extLst>
              <a:ext uri="{FF2B5EF4-FFF2-40B4-BE49-F238E27FC236}">
                <a16:creationId xmlns:a16="http://schemas.microsoft.com/office/drawing/2014/main" id="{C439FC72-178B-47CA-9A92-D18DA25231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3609" y="1504643"/>
            <a:ext cx="8423489" cy="4646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2976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Impurity</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7" name="TextBox 6">
            <a:extLst>
              <a:ext uri="{FF2B5EF4-FFF2-40B4-BE49-F238E27FC236}">
                <a16:creationId xmlns:a16="http://schemas.microsoft.com/office/drawing/2014/main" id="{E79AB240-4123-4AA0-89F5-2CAE8359C45A}"/>
              </a:ext>
            </a:extLst>
          </p:cNvPr>
          <p:cNvSpPr txBox="1"/>
          <p:nvPr/>
        </p:nvSpPr>
        <p:spPr>
          <a:xfrm>
            <a:off x="142875" y="6484293"/>
            <a:ext cx="6096000" cy="230832"/>
          </a:xfrm>
          <a:prstGeom prst="rect">
            <a:avLst/>
          </a:prstGeom>
          <a:noFill/>
        </p:spPr>
        <p:txBody>
          <a:bodyPr wrap="square">
            <a:spAutoFit/>
          </a:bodyPr>
          <a:lstStyle/>
          <a:p>
            <a:r>
              <a:rPr lang="en-IN" sz="900" u="sng" dirty="0">
                <a:solidFill>
                  <a:schemeClr val="hlink"/>
                </a:solidFill>
              </a:rPr>
              <a:t>https://www.section.io/engineering-education/entropy-information-gain-machine-learning/</a:t>
            </a:r>
            <a:endParaRPr lang="en-IN" sz="900" dirty="0"/>
          </a:p>
        </p:txBody>
      </p:sp>
      <p:pic>
        <p:nvPicPr>
          <p:cNvPr id="5128" name="Picture 8" descr="purity">
            <a:extLst>
              <a:ext uri="{FF2B5EF4-FFF2-40B4-BE49-F238E27FC236}">
                <a16:creationId xmlns:a16="http://schemas.microsoft.com/office/drawing/2014/main" id="{3B7218ED-0907-4633-A9EE-384FD88835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281238"/>
            <a:ext cx="6248400" cy="2295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20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Gini Index</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7" name="TextBox 6">
            <a:extLst>
              <a:ext uri="{FF2B5EF4-FFF2-40B4-BE49-F238E27FC236}">
                <a16:creationId xmlns:a16="http://schemas.microsoft.com/office/drawing/2014/main" id="{E79AB240-4123-4AA0-89F5-2CAE8359C45A}"/>
              </a:ext>
            </a:extLst>
          </p:cNvPr>
          <p:cNvSpPr txBox="1"/>
          <p:nvPr/>
        </p:nvSpPr>
        <p:spPr>
          <a:xfrm>
            <a:off x="142875" y="6347511"/>
            <a:ext cx="6096000" cy="507831"/>
          </a:xfrm>
          <a:prstGeom prst="rect">
            <a:avLst/>
          </a:prstGeom>
          <a:noFill/>
        </p:spPr>
        <p:txBody>
          <a:bodyPr wrap="square">
            <a:spAutoFit/>
          </a:bodyPr>
          <a:lstStyle/>
          <a:p>
            <a:r>
              <a:rPr lang="en-IN" sz="900" u="sng" dirty="0">
                <a:solidFill>
                  <a:schemeClr val="hlink"/>
                </a:solidFill>
                <a:hlinkClick r:id="rId2"/>
              </a:rPr>
              <a:t>https://stats.stackexchange.com/questions/477063/how-to-derive-equation-of-gini-index-used-in-decision-trees</a:t>
            </a:r>
            <a:endParaRPr lang="en-IN" sz="900" u="sng" dirty="0">
              <a:solidFill>
                <a:schemeClr val="hlink"/>
              </a:solidFill>
            </a:endParaRPr>
          </a:p>
          <a:p>
            <a:r>
              <a:rPr lang="en-IN" sz="900" u="sng" dirty="0">
                <a:solidFill>
                  <a:schemeClr val="hlink"/>
                </a:solidFill>
                <a:hlinkClick r:id="rId3"/>
              </a:rPr>
              <a:t>https://www.analyticsvidhya.com/</a:t>
            </a:r>
            <a:endParaRPr lang="en-IN" sz="900" dirty="0"/>
          </a:p>
          <a:p>
            <a:endParaRPr lang="en-IN" sz="900" dirty="0"/>
          </a:p>
        </p:txBody>
      </p:sp>
      <p:pic>
        <p:nvPicPr>
          <p:cNvPr id="8194" name="Picture 2" descr="cart - How to derive equation of Gini index used in Decision Trees? - Cross  Validated">
            <a:extLst>
              <a:ext uri="{FF2B5EF4-FFF2-40B4-BE49-F238E27FC236}">
                <a16:creationId xmlns:a16="http://schemas.microsoft.com/office/drawing/2014/main" id="{1B37724D-C87F-40B8-8E19-52C3D6CEF5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4845" y="5344386"/>
            <a:ext cx="3570288" cy="1344235"/>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296;p16">
            <a:extLst>
              <a:ext uri="{FF2B5EF4-FFF2-40B4-BE49-F238E27FC236}">
                <a16:creationId xmlns:a16="http://schemas.microsoft.com/office/drawing/2014/main" id="{1302EBA4-0A9D-4083-B3B3-7C2BA4DB0BCA}"/>
              </a:ext>
            </a:extLst>
          </p:cNvPr>
          <p:cNvSpPr txBox="1">
            <a:spLocks/>
          </p:cNvSpPr>
          <p:nvPr/>
        </p:nvSpPr>
        <p:spPr>
          <a:xfrm>
            <a:off x="1346207" y="4716648"/>
            <a:ext cx="4746621" cy="941222"/>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292100" algn="l">
              <a:lnSpc>
                <a:spcPct val="115000"/>
              </a:lnSpc>
              <a:spcBef>
                <a:spcPts val="0"/>
              </a:spcBef>
              <a:buClr>
                <a:srgbClr val="595858"/>
              </a:buClr>
              <a:buSzPts val="1000"/>
              <a:buFont typeface="Roboto"/>
              <a:buAutoNum type="arabicPeriod"/>
            </a:pPr>
            <a:r>
              <a:rPr lang="en-IN" sz="1100" dirty="0">
                <a:latin typeface="Times New Roman" panose="02020603050405020304" pitchFamily="18" charset="0"/>
                <a:cs typeface="Times New Roman" panose="02020603050405020304" pitchFamily="18" charset="0"/>
              </a:rPr>
              <a:t>Gini for sub-node Female = (0.2)*(0.2)+(0.8)*(0.8)=0.68</a:t>
            </a:r>
          </a:p>
          <a:p>
            <a:pPr marL="457200" indent="-292100" algn="l">
              <a:spcBef>
                <a:spcPts val="0"/>
              </a:spcBef>
              <a:buClr>
                <a:srgbClr val="595858"/>
              </a:buClr>
              <a:buSzPts val="1000"/>
              <a:buFont typeface="Roboto"/>
              <a:buAutoNum type="arabicPeriod"/>
            </a:pPr>
            <a:r>
              <a:rPr lang="en-IN" sz="1100" dirty="0">
                <a:highlight>
                  <a:srgbClr val="FFFFFF"/>
                </a:highlight>
                <a:latin typeface="Times New Roman" panose="02020603050405020304" pitchFamily="18" charset="0"/>
                <a:ea typeface="Roboto"/>
                <a:cs typeface="Times New Roman" panose="02020603050405020304" pitchFamily="18" charset="0"/>
                <a:sym typeface="Roboto"/>
              </a:rPr>
              <a:t>Gini for sub-node Male = (0.65)*(0.65)+(0.35)*(0.35)=0.55</a:t>
            </a:r>
          </a:p>
          <a:p>
            <a:pPr marL="457200" indent="-292100" algn="l">
              <a:spcBef>
                <a:spcPts val="0"/>
              </a:spcBef>
              <a:buClr>
                <a:srgbClr val="595858"/>
              </a:buClr>
              <a:buSzPts val="1000"/>
              <a:buFont typeface="Roboto"/>
              <a:buAutoNum type="arabicPeriod"/>
            </a:pPr>
            <a:r>
              <a:rPr lang="en-IN" sz="1100" dirty="0">
                <a:highlight>
                  <a:srgbClr val="FFFFFF"/>
                </a:highlight>
                <a:latin typeface="Times New Roman" panose="02020603050405020304" pitchFamily="18" charset="0"/>
                <a:ea typeface="Roboto"/>
                <a:cs typeface="Times New Roman" panose="02020603050405020304" pitchFamily="18" charset="0"/>
                <a:sym typeface="Roboto"/>
              </a:rPr>
              <a:t>Weighted Gini for Split Gender = (10/30)*0.68+(20/30)*0.55 = </a:t>
            </a:r>
            <a:r>
              <a:rPr lang="en-IN" sz="1100" b="1" dirty="0">
                <a:highlight>
                  <a:srgbClr val="FFFFFF"/>
                </a:highlight>
                <a:latin typeface="Times New Roman" panose="02020603050405020304" pitchFamily="18" charset="0"/>
                <a:ea typeface="Roboto"/>
                <a:cs typeface="Times New Roman" panose="02020603050405020304" pitchFamily="18" charset="0"/>
                <a:sym typeface="Roboto"/>
              </a:rPr>
              <a:t>0.59</a:t>
            </a:r>
            <a:endParaRPr lang="en-IN" sz="1100" dirty="0">
              <a:latin typeface="Times New Roman" panose="02020603050405020304" pitchFamily="18" charset="0"/>
              <a:cs typeface="Times New Roman" panose="02020603050405020304" pitchFamily="18" charset="0"/>
            </a:endParaRPr>
          </a:p>
        </p:txBody>
      </p:sp>
      <p:pic>
        <p:nvPicPr>
          <p:cNvPr id="10" name="Google Shape;297;p16">
            <a:extLst>
              <a:ext uri="{FF2B5EF4-FFF2-40B4-BE49-F238E27FC236}">
                <a16:creationId xmlns:a16="http://schemas.microsoft.com/office/drawing/2014/main" id="{7E94E3CD-0272-40A8-B930-F5AC00647FDA}"/>
              </a:ext>
            </a:extLst>
          </p:cNvPr>
          <p:cNvPicPr preferRelativeResize="0"/>
          <p:nvPr/>
        </p:nvPicPr>
        <p:blipFill>
          <a:blip r:embed="rId5">
            <a:alphaModFix/>
          </a:blip>
          <a:stretch>
            <a:fillRect/>
          </a:stretch>
        </p:blipFill>
        <p:spPr>
          <a:xfrm>
            <a:off x="1531221" y="1364974"/>
            <a:ext cx="8938000" cy="3265959"/>
          </a:xfrm>
          <a:prstGeom prst="rect">
            <a:avLst/>
          </a:prstGeom>
          <a:noFill/>
          <a:ln>
            <a:noFill/>
          </a:ln>
        </p:spPr>
      </p:pic>
      <p:sp>
        <p:nvSpPr>
          <p:cNvPr id="11" name="Google Shape;298;p16">
            <a:extLst>
              <a:ext uri="{FF2B5EF4-FFF2-40B4-BE49-F238E27FC236}">
                <a16:creationId xmlns:a16="http://schemas.microsoft.com/office/drawing/2014/main" id="{C1FBE496-DA29-40A7-B0A8-B71D1C3FACBD}"/>
              </a:ext>
            </a:extLst>
          </p:cNvPr>
          <p:cNvSpPr txBox="1">
            <a:spLocks/>
          </p:cNvSpPr>
          <p:nvPr/>
        </p:nvSpPr>
        <p:spPr>
          <a:xfrm>
            <a:off x="5712659" y="4695575"/>
            <a:ext cx="4756562" cy="941222"/>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292100" algn="l">
              <a:lnSpc>
                <a:spcPct val="115000"/>
              </a:lnSpc>
              <a:spcBef>
                <a:spcPts val="0"/>
              </a:spcBef>
              <a:buClr>
                <a:srgbClr val="595858"/>
              </a:buClr>
              <a:buSzPts val="1000"/>
              <a:buFont typeface="Roboto"/>
              <a:buAutoNum type="arabicPeriod"/>
            </a:pPr>
            <a:r>
              <a:rPr lang="en-US" sz="1100" dirty="0"/>
              <a:t>Gini for sub-node Class IX = (0.43)*(0.43)+(0.57)*(0.57)=0.51</a:t>
            </a:r>
          </a:p>
          <a:p>
            <a:pPr marL="457200" indent="-292100" algn="l">
              <a:spcBef>
                <a:spcPts val="0"/>
              </a:spcBef>
              <a:buClr>
                <a:srgbClr val="595858"/>
              </a:buClr>
              <a:buSzPts val="1000"/>
              <a:buFont typeface="Roboto"/>
              <a:buAutoNum type="arabicPeriod"/>
            </a:pPr>
            <a:r>
              <a:rPr lang="en-US" sz="1100" dirty="0">
                <a:highlight>
                  <a:srgbClr val="FFFFFF"/>
                </a:highlight>
                <a:latin typeface="Roboto"/>
                <a:ea typeface="Roboto"/>
                <a:cs typeface="Roboto"/>
                <a:sym typeface="Roboto"/>
              </a:rPr>
              <a:t>Gini for sub-node Class X = (0.56)*(0.56)+(0.44)*(0.44)=0.51</a:t>
            </a:r>
          </a:p>
          <a:p>
            <a:pPr marL="457200" indent="-292100" algn="l">
              <a:spcBef>
                <a:spcPts val="0"/>
              </a:spcBef>
              <a:buClr>
                <a:srgbClr val="595858"/>
              </a:buClr>
              <a:buSzPts val="1000"/>
              <a:buFont typeface="Roboto"/>
              <a:buAutoNum type="arabicPeriod"/>
            </a:pPr>
            <a:r>
              <a:rPr lang="en-US" sz="1100" dirty="0">
                <a:highlight>
                  <a:srgbClr val="FFFFFF"/>
                </a:highlight>
                <a:latin typeface="Roboto"/>
                <a:ea typeface="Roboto"/>
                <a:cs typeface="Roboto"/>
                <a:sym typeface="Roboto"/>
              </a:rPr>
              <a:t>Weighted Gini for Split Class = (14/30)*0.51+(16/30)*0.51 = </a:t>
            </a:r>
            <a:r>
              <a:rPr lang="en-US" sz="1100" b="1" dirty="0">
                <a:highlight>
                  <a:srgbClr val="FFFFFF"/>
                </a:highlight>
                <a:latin typeface="Roboto"/>
                <a:ea typeface="Roboto"/>
                <a:cs typeface="Roboto"/>
                <a:sym typeface="Roboto"/>
              </a:rPr>
              <a:t>0.5</a:t>
            </a:r>
            <a:endParaRPr lang="en-US" dirty="0"/>
          </a:p>
        </p:txBody>
      </p:sp>
      <p:sp>
        <p:nvSpPr>
          <p:cNvPr id="12" name="Google Shape;299;p16">
            <a:extLst>
              <a:ext uri="{FF2B5EF4-FFF2-40B4-BE49-F238E27FC236}">
                <a16:creationId xmlns:a16="http://schemas.microsoft.com/office/drawing/2014/main" id="{D176894E-0F93-4CD2-8CD7-4B65D9B7E537}"/>
              </a:ext>
            </a:extLst>
          </p:cNvPr>
          <p:cNvSpPr txBox="1">
            <a:spLocks/>
          </p:cNvSpPr>
          <p:nvPr/>
        </p:nvSpPr>
        <p:spPr>
          <a:xfrm>
            <a:off x="1531220" y="5364183"/>
            <a:ext cx="6377806" cy="577936"/>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150" i="1" dirty="0">
                <a:solidFill>
                  <a:srgbClr val="595858"/>
                </a:solidFill>
                <a:highlight>
                  <a:srgbClr val="FFFFFF"/>
                </a:highlight>
                <a:latin typeface="Roboto"/>
                <a:ea typeface="Roboto"/>
                <a:cs typeface="Roboto"/>
                <a:sym typeface="Roboto"/>
              </a:rPr>
              <a:t>Split on Gender</a:t>
            </a:r>
            <a:r>
              <a:rPr lang="en-US" sz="1150" dirty="0">
                <a:solidFill>
                  <a:srgbClr val="595858"/>
                </a:solidFill>
                <a:highlight>
                  <a:srgbClr val="FFFFFF"/>
                </a:highlight>
                <a:latin typeface="Roboto"/>
                <a:ea typeface="Roboto"/>
                <a:cs typeface="Roboto"/>
                <a:sym typeface="Roboto"/>
              </a:rPr>
              <a:t> is higher than </a:t>
            </a:r>
            <a:r>
              <a:rPr lang="en-US" sz="1150" i="1" dirty="0">
                <a:solidFill>
                  <a:srgbClr val="595858"/>
                </a:solidFill>
                <a:highlight>
                  <a:srgbClr val="FFFFFF"/>
                </a:highlight>
                <a:latin typeface="Roboto"/>
                <a:ea typeface="Roboto"/>
                <a:cs typeface="Roboto"/>
                <a:sym typeface="Roboto"/>
              </a:rPr>
              <a:t>Split on Class,</a:t>
            </a:r>
            <a:r>
              <a:rPr lang="en-US" sz="1150" dirty="0">
                <a:solidFill>
                  <a:srgbClr val="595858"/>
                </a:solidFill>
                <a:highlight>
                  <a:srgbClr val="FFFFFF"/>
                </a:highlight>
                <a:latin typeface="Roboto"/>
                <a:ea typeface="Roboto"/>
                <a:cs typeface="Roboto"/>
                <a:sym typeface="Roboto"/>
              </a:rPr>
              <a:t> hence, the node split will take place on </a:t>
            </a:r>
            <a:r>
              <a:rPr lang="en-US" sz="1150" b="1" dirty="0">
                <a:solidFill>
                  <a:srgbClr val="595858"/>
                </a:solidFill>
                <a:highlight>
                  <a:srgbClr val="FFFFFF"/>
                </a:highlight>
                <a:latin typeface="Roboto"/>
                <a:ea typeface="Roboto"/>
                <a:cs typeface="Roboto"/>
                <a:sym typeface="Roboto"/>
              </a:rPr>
              <a:t>Gender</a:t>
            </a:r>
            <a:endParaRPr lang="en-US" sz="1800" b="1" dirty="0"/>
          </a:p>
          <a:p>
            <a:pPr algn="l">
              <a:spcBef>
                <a:spcPts val="1600"/>
              </a:spcBef>
              <a:spcAft>
                <a:spcPts val="1600"/>
              </a:spcAft>
            </a:pPr>
            <a:endParaRPr lang="en-US" sz="1150" dirty="0">
              <a:solidFill>
                <a:srgbClr val="595858"/>
              </a:solidFill>
              <a:highlight>
                <a:srgbClr val="FFFFFF"/>
              </a:highlight>
              <a:latin typeface="Roboto"/>
              <a:ea typeface="Roboto"/>
              <a:cs typeface="Roboto"/>
              <a:sym typeface="Roboto"/>
            </a:endParaRPr>
          </a:p>
        </p:txBody>
      </p:sp>
    </p:spTree>
    <p:extLst>
      <p:ext uri="{BB962C8B-B14F-4D97-AF65-F5344CB8AC3E}">
        <p14:creationId xmlns:p14="http://schemas.microsoft.com/office/powerpoint/2010/main" val="22246251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Overfitting vs Underfitting</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pic>
        <p:nvPicPr>
          <p:cNvPr id="10242" name="Picture 2">
            <a:extLst>
              <a:ext uri="{FF2B5EF4-FFF2-40B4-BE49-F238E27FC236}">
                <a16:creationId xmlns:a16="http://schemas.microsoft.com/office/drawing/2014/main" id="{9012D1B9-A2F7-43E7-BE58-C3F4EFEF4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2504" y="1534743"/>
            <a:ext cx="7981950" cy="28575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B654276-BE8B-42A4-8DAA-EF9E326AB8F2}"/>
              </a:ext>
            </a:extLst>
          </p:cNvPr>
          <p:cNvSpPr txBox="1"/>
          <p:nvPr/>
        </p:nvSpPr>
        <p:spPr>
          <a:xfrm>
            <a:off x="111125" y="6484293"/>
            <a:ext cx="6096000" cy="230832"/>
          </a:xfrm>
          <a:prstGeom prst="rect">
            <a:avLst/>
          </a:prstGeom>
          <a:noFill/>
        </p:spPr>
        <p:txBody>
          <a:bodyPr wrap="square">
            <a:spAutoFit/>
          </a:bodyPr>
          <a:lstStyle/>
          <a:p>
            <a:r>
              <a:rPr lang="en-IN" sz="900" dirty="0"/>
              <a:t>https://machine-learning.paperspace.com/wiki/overfitting-vs-underfitting</a:t>
            </a:r>
          </a:p>
        </p:txBody>
      </p:sp>
    </p:spTree>
    <p:extLst>
      <p:ext uri="{BB962C8B-B14F-4D97-AF65-F5344CB8AC3E}">
        <p14:creationId xmlns:p14="http://schemas.microsoft.com/office/powerpoint/2010/main" val="14362716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Advantage and Disadvantage</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sp>
        <p:nvSpPr>
          <p:cNvPr id="6" name="Google Shape;306;p17">
            <a:extLst>
              <a:ext uri="{FF2B5EF4-FFF2-40B4-BE49-F238E27FC236}">
                <a16:creationId xmlns:a16="http://schemas.microsoft.com/office/drawing/2014/main" id="{3FF2CA33-FBFD-45FC-8A98-9A97B0FE76CA}"/>
              </a:ext>
            </a:extLst>
          </p:cNvPr>
          <p:cNvSpPr txBox="1">
            <a:spLocks/>
          </p:cNvSpPr>
          <p:nvPr/>
        </p:nvSpPr>
        <p:spPr>
          <a:xfrm>
            <a:off x="494144" y="1489367"/>
            <a:ext cx="7343700" cy="1823676"/>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b="1" dirty="0">
                <a:latin typeface="Times New Roman" panose="02020603050405020304" pitchFamily="18" charset="0"/>
                <a:cs typeface="Times New Roman" panose="02020603050405020304" pitchFamily="18" charset="0"/>
              </a:rPr>
              <a:t>Advantages - </a:t>
            </a:r>
            <a:r>
              <a:rPr lang="en-US" dirty="0">
                <a:latin typeface="Times New Roman" panose="02020603050405020304" pitchFamily="18" charset="0"/>
                <a:cs typeface="Times New Roman" panose="02020603050405020304" pitchFamily="18" charset="0"/>
              </a:rPr>
              <a:t>Explainable, Few hyper parameters</a:t>
            </a:r>
          </a:p>
          <a:p>
            <a:pPr algn="l">
              <a:spcBef>
                <a:spcPts val="1600"/>
              </a:spcBef>
            </a:pPr>
            <a:r>
              <a:rPr lang="en-US" b="1" dirty="0">
                <a:latin typeface="Times New Roman" panose="02020603050405020304" pitchFamily="18" charset="0"/>
                <a:cs typeface="Times New Roman" panose="02020603050405020304" pitchFamily="18" charset="0"/>
              </a:rPr>
              <a:t>Disadvantages - </a:t>
            </a:r>
            <a:r>
              <a:rPr lang="en-US" dirty="0">
                <a:latin typeface="Times New Roman" panose="02020603050405020304" pitchFamily="18" charset="0"/>
                <a:cs typeface="Times New Roman" panose="02020603050405020304" pitchFamily="18" charset="0"/>
              </a:rPr>
              <a:t>Prone to overfitting, Low accuracy</a:t>
            </a:r>
          </a:p>
          <a:p>
            <a:pPr algn="l">
              <a:spcBef>
                <a:spcPts val="1600"/>
              </a:spcBef>
              <a:spcAft>
                <a:spcPts val="1600"/>
              </a:spcAft>
            </a:pPr>
            <a:r>
              <a:rPr lang="en-US" b="1" dirty="0">
                <a:latin typeface="Times New Roman" panose="02020603050405020304" pitchFamily="18" charset="0"/>
                <a:cs typeface="Times New Roman" panose="02020603050405020304" pitchFamily="18" charset="0"/>
              </a:rPr>
              <a:t>Overfitting - </a:t>
            </a:r>
            <a:r>
              <a:rPr lang="en-US" dirty="0">
                <a:latin typeface="Times New Roman" panose="02020603050405020304" pitchFamily="18" charset="0"/>
                <a:cs typeface="Times New Roman" panose="02020603050405020304" pitchFamily="18" charset="0"/>
              </a:rPr>
              <a:t>Pruning helps in reducing overfitting</a:t>
            </a:r>
          </a:p>
        </p:txBody>
      </p:sp>
    </p:spTree>
    <p:extLst>
      <p:ext uri="{BB962C8B-B14F-4D97-AF65-F5344CB8AC3E}">
        <p14:creationId xmlns:p14="http://schemas.microsoft.com/office/powerpoint/2010/main" val="14837904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23C1DF-F95C-4FE1-A8AD-9C58DC10F582}"/>
              </a:ext>
            </a:extLst>
          </p:cNvPr>
          <p:cNvSpPr/>
          <p:nvPr/>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Hyperparameter Tuning</a:t>
            </a:r>
          </a:p>
        </p:txBody>
      </p:sp>
    </p:spTree>
    <p:extLst>
      <p:ext uri="{BB962C8B-B14F-4D97-AF65-F5344CB8AC3E}">
        <p14:creationId xmlns:p14="http://schemas.microsoft.com/office/powerpoint/2010/main" val="4051031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C63B1-3071-4E5C-9958-9D66F5054E9B}"/>
              </a:ext>
            </a:extLst>
          </p:cNvPr>
          <p:cNvSpPr/>
          <p:nvPr/>
        </p:nvSpPr>
        <p:spPr>
          <a:xfrm>
            <a:off x="142875" y="71438"/>
            <a:ext cx="11938000" cy="107156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Hyperparameter Tuning</a:t>
            </a:r>
          </a:p>
        </p:txBody>
      </p:sp>
      <p:sp>
        <p:nvSpPr>
          <p:cNvPr id="3" name="Rectangle 2">
            <a:extLst>
              <a:ext uri="{FF2B5EF4-FFF2-40B4-BE49-F238E27FC236}">
                <a16:creationId xmlns:a16="http://schemas.microsoft.com/office/drawing/2014/main" id="{C3567442-1DA8-425E-908D-583F70C94A4C}"/>
              </a:ext>
            </a:extLst>
          </p:cNvPr>
          <p:cNvSpPr/>
          <p:nvPr/>
        </p:nvSpPr>
        <p:spPr>
          <a:xfrm>
            <a:off x="142875" y="1285875"/>
            <a:ext cx="11938000" cy="542925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endParaRPr lang="en-US" sz="3200" b="1" dirty="0">
              <a:solidFill>
                <a:schemeClr val="tx1"/>
              </a:solidFill>
              <a:latin typeface="Times New Roman" pitchFamily="18" charset="0"/>
              <a:cs typeface="Times New Roman" pitchFamily="18" charset="0"/>
            </a:endParaRPr>
          </a:p>
          <a:p>
            <a:pPr algn="ctr" eaLnBrk="1" fontAlgn="auto" hangingPunct="1">
              <a:spcBef>
                <a:spcPts val="0"/>
              </a:spcBef>
              <a:spcAft>
                <a:spcPts val="0"/>
              </a:spcAft>
              <a:defRPr/>
            </a:pPr>
            <a:r>
              <a:rPr lang="en-US" sz="3200" b="1" dirty="0">
                <a:solidFill>
                  <a:schemeClr val="tx1"/>
                </a:solidFill>
                <a:latin typeface="Times New Roman" pitchFamily="18" charset="0"/>
                <a:cs typeface="Times New Roman" pitchFamily="18" charset="0"/>
              </a:rPr>
              <a:t> </a:t>
            </a:r>
          </a:p>
        </p:txBody>
      </p:sp>
      <p:pic>
        <p:nvPicPr>
          <p:cNvPr id="6146" name="Picture 2" descr="Hyperparameters in Machine Learning - Javatpoint">
            <a:extLst>
              <a:ext uri="{FF2B5EF4-FFF2-40B4-BE49-F238E27FC236}">
                <a16:creationId xmlns:a16="http://schemas.microsoft.com/office/drawing/2014/main" id="{2CC0990B-CD61-4BCF-AC33-4B15C4BC49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75" y="1577423"/>
            <a:ext cx="5715000" cy="42862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ED2DA4D-EC8A-4FC2-BF60-D174D25F2FD8}"/>
              </a:ext>
            </a:extLst>
          </p:cNvPr>
          <p:cNvSpPr txBox="1"/>
          <p:nvPr/>
        </p:nvSpPr>
        <p:spPr>
          <a:xfrm>
            <a:off x="142875" y="6453515"/>
            <a:ext cx="7977808" cy="261610"/>
          </a:xfrm>
          <a:prstGeom prst="rect">
            <a:avLst/>
          </a:prstGeom>
          <a:noFill/>
        </p:spPr>
        <p:txBody>
          <a:bodyPr wrap="square">
            <a:spAutoFit/>
          </a:bodyPr>
          <a:lstStyle/>
          <a:p>
            <a:r>
              <a:rPr lang="en-IN" sz="1100" dirty="0"/>
              <a:t>https://www.javatpoint.com/hyperparameters-in-machine-learning</a:t>
            </a:r>
          </a:p>
        </p:txBody>
      </p:sp>
    </p:spTree>
    <p:extLst>
      <p:ext uri="{BB962C8B-B14F-4D97-AF65-F5344CB8AC3E}">
        <p14:creationId xmlns:p14="http://schemas.microsoft.com/office/powerpoint/2010/main" val="1583341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4571</TotalTime>
  <Words>1493</Words>
  <Application>Microsoft Office PowerPoint</Application>
  <PresentationFormat>Widescreen</PresentationFormat>
  <Paragraphs>481</Paragraphs>
  <Slides>49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Algerian</vt:lpstr>
      <vt:lpstr>Arial</vt:lpstr>
      <vt:lpstr>Calibri</vt:lpstr>
      <vt:lpstr>Calibri Light</vt:lpstr>
      <vt:lpstr>Roboto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Sandeep Singh</cp:lastModifiedBy>
  <cp:revision>209</cp:revision>
  <dcterms:created xsi:type="dcterms:W3CDTF">2023-04-23T07:38:44Z</dcterms:created>
  <dcterms:modified xsi:type="dcterms:W3CDTF">2024-10-31T08:14:50Z</dcterms:modified>
</cp:coreProperties>
</file>