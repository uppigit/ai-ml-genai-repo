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05" r:id="rId4"/>
    <p:sldId id="277" r:id="rId5"/>
    <p:sldId id="278" r:id="rId6"/>
    <p:sldId id="279" r:id="rId7"/>
    <p:sldId id="280" r:id="rId8"/>
    <p:sldId id="269" r:id="rId9"/>
    <p:sldId id="268" r:id="rId10"/>
    <p:sldId id="264" r:id="rId11"/>
    <p:sldId id="265" r:id="rId12"/>
    <p:sldId id="271" r:id="rId13"/>
    <p:sldId id="272" r:id="rId14"/>
    <p:sldId id="273" r:id="rId15"/>
    <p:sldId id="274" r:id="rId16"/>
    <p:sldId id="275" r:id="rId17"/>
    <p:sldId id="276" r:id="rId18"/>
    <p:sldId id="303" r:id="rId19"/>
    <p:sldId id="304" r:id="rId20"/>
    <p:sldId id="261" r:id="rId21"/>
    <p:sldId id="270" r:id="rId22"/>
    <p:sldId id="299" r:id="rId23"/>
    <p:sldId id="281" r:id="rId24"/>
    <p:sldId id="282" r:id="rId25"/>
    <p:sldId id="283" r:id="rId26"/>
    <p:sldId id="300" r:id="rId27"/>
    <p:sldId id="284" r:id="rId28"/>
    <p:sldId id="285" r:id="rId29"/>
    <p:sldId id="286" r:id="rId30"/>
    <p:sldId id="301" r:id="rId31"/>
    <p:sldId id="287" r:id="rId32"/>
    <p:sldId id="288" r:id="rId33"/>
    <p:sldId id="302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880" y="-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Foundational Topics in Natural Language Processing (NLP)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Overview and Techniques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058940" cy="465174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It enables </a:t>
            </a:r>
            <a:r>
              <a:rPr lang="en-US" dirty="0"/>
              <a:t>computers to understand, interpret, and generate human language in a way that is both meaningful and useful. It bridges the gap between human communication (in the form of text or speech) and machine understanding.</a:t>
            </a:r>
          </a:p>
          <a:p>
            <a:r>
              <a:rPr lang="en-US" b="1" dirty="0" smtClean="0"/>
              <a:t>Understanding </a:t>
            </a:r>
            <a:r>
              <a:rPr lang="en-US" b="1" dirty="0"/>
              <a:t>Language:</a:t>
            </a:r>
            <a:r>
              <a:rPr lang="en-US" dirty="0"/>
              <a:t> Enabling computers to understand the semantics (meaning) and syntax (structure) of text or speech.</a:t>
            </a:r>
          </a:p>
          <a:p>
            <a:r>
              <a:rPr lang="en-US" b="1" dirty="0"/>
              <a:t>Generating Language:</a:t>
            </a:r>
            <a:r>
              <a:rPr lang="en-US" dirty="0"/>
              <a:t> Allowing systems to produce human-like text or speech.</a:t>
            </a:r>
          </a:p>
          <a:p>
            <a:r>
              <a:rPr lang="en-US" b="1" dirty="0"/>
              <a:t>Interacting with Humans:</a:t>
            </a:r>
            <a:r>
              <a:rPr lang="en-US" dirty="0"/>
              <a:t> Facilitating communication between humans and machines in natural language, e.g., </a:t>
            </a:r>
            <a:r>
              <a:rPr lang="en-US" dirty="0" err="1"/>
              <a:t>chatbots</a:t>
            </a:r>
            <a:r>
              <a:rPr lang="en-US" dirty="0"/>
              <a:t> or voice assistants.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word </a:t>
            </a:r>
            <a:r>
              <a:rPr lang="en-US" dirty="0" smtClean="0"/>
              <a:t>should be in  </a:t>
            </a:r>
            <a:r>
              <a:rPr lang="en-US" dirty="0"/>
              <a:t>same vector value </a:t>
            </a:r>
            <a:r>
              <a:rPr lang="en-US" dirty="0" smtClean="0"/>
              <a:t>range :word -</a:t>
            </a:r>
            <a:r>
              <a:rPr lang="en-US" dirty="0" err="1" smtClean="0"/>
              <a:t>vec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81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01600"/>
            <a:ext cx="8665535" cy="5221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800"/>
              </a:spcAft>
            </a:pPr>
            <a:r>
              <a:rPr lang="en-IN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Applications of NLP in Various </a:t>
            </a:r>
            <a:r>
              <a:rPr lang="en-IN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Industries</a:t>
            </a:r>
            <a:endParaRPr lang="en-IN" sz="28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800"/>
              </a:lnSpc>
              <a:spcAft>
                <a:spcPts val="800"/>
              </a:spcAft>
            </a:pPr>
            <a:endParaRPr lang="en-IN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800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endParaRPr lang="en-IN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8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800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Predicting </a:t>
            </a:r>
            <a:r>
              <a:rPr lang="en-IN" sz="2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patient outcomes using EHRs.</a:t>
            </a:r>
            <a:endParaRPr lang="en-IN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8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800" dirty="0" err="1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IN" sz="2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for mental health support.</a:t>
            </a:r>
            <a:endParaRPr lang="en-IN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800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E-commerce:</a:t>
            </a:r>
            <a:endParaRPr lang="en-IN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8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Personalized product recommendations.</a:t>
            </a:r>
            <a:endParaRPr lang="en-IN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18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Customer sentiment analysis through reviews.</a:t>
            </a:r>
            <a:endParaRPr lang="en-IN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8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800" b="1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</a:p>
          <a:p>
            <a:pPr lvl="0">
              <a:lnSpc>
                <a:spcPts val="18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800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	Automating </a:t>
            </a:r>
            <a:r>
              <a:rPr lang="en-IN" sz="2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customer support with </a:t>
            </a:r>
            <a:r>
              <a:rPr lang="en-IN" sz="2800" dirty="0" err="1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r>
              <a:rPr lang="en-IN" sz="2800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 smtClean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ts val="1800"/>
              </a:lnSpc>
              <a:spcAft>
                <a:spcPts val="800"/>
              </a:spcAft>
              <a:buAutoNum type="arabicPeriod" startAt="4"/>
              <a:tabLst>
                <a:tab pos="457200" algn="l"/>
              </a:tabLst>
            </a:pPr>
            <a:r>
              <a:rPr lang="en-IN" sz="2800" b="1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pPr lvl="0">
              <a:lnSpc>
                <a:spcPts val="18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2800" b="1" dirty="0" smtClean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lnSpc>
                <a:spcPts val="1800"/>
              </a:lnSpc>
              <a:spcAft>
                <a:spcPts val="800"/>
              </a:spcAft>
              <a:buAutoNum type="arabicPeriod" startAt="4"/>
              <a:tabLst>
                <a:tab pos="457200" algn="l"/>
              </a:tabLst>
            </a:pPr>
            <a:r>
              <a:rPr lang="en-IN" sz="2800" b="1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IN" sz="2800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Service:</a:t>
            </a:r>
            <a:endParaRPr lang="en-IN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8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Virtual assistants like Siri, Alexa, and Google </a:t>
            </a:r>
            <a:r>
              <a:rPr lang="en-IN" sz="2800" dirty="0" smtClean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Assistant.</a:t>
            </a:r>
            <a:endParaRPr lang="en-IN" sz="2800" dirty="0" smtClean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18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dirty="0" smtClean="0">
                <a:latin typeface="+mj-lt"/>
                <a:ea typeface="Times New Roman" panose="02020603050405020304" pitchFamily="18" charset="0"/>
              </a:rPr>
              <a:t>Intelligent </a:t>
            </a:r>
            <a:r>
              <a:rPr lang="en-IN" sz="2800" dirty="0" err="1">
                <a:latin typeface="+mj-lt"/>
                <a:ea typeface="Times New Roman" panose="02020603050405020304" pitchFamily="18" charset="0"/>
              </a:rPr>
              <a:t>chatbots</a:t>
            </a:r>
            <a:r>
              <a:rPr lang="en-IN" sz="2800" dirty="0">
                <a:latin typeface="+mj-lt"/>
                <a:ea typeface="Times New Roman" panose="02020603050405020304" pitchFamily="18" charset="0"/>
              </a:rPr>
              <a:t> for handling customer queries.</a:t>
            </a:r>
            <a:endParaRPr lang="en-IN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742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53" y="1158949"/>
            <a:ext cx="9153233" cy="451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1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98" y="1146057"/>
            <a:ext cx="4934204" cy="456588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245996" y="5791387"/>
            <a:ext cx="328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similar word should be in  same vector value range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785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35" y="-116957"/>
            <a:ext cx="6719549" cy="33173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556" y="2893577"/>
            <a:ext cx="4934204" cy="364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5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2880" y="1787228"/>
            <a:ext cx="874776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Corpus</a:t>
            </a:r>
            <a:r>
              <a:rPr lang="en-US" altLang="en-US" sz="2400" dirty="0" smtClean="0">
                <a:ea typeface="Times New Roman" panose="02020603050405020304" pitchFamily="18" charset="0"/>
              </a:rPr>
              <a:t>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corpus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is a collection of text data used for analysis or training NLP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Document:</a:t>
            </a: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document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is a single unit of text within the corpus.</a:t>
            </a:r>
          </a:p>
          <a:p>
            <a:pPr marL="0" indent="0" defTabSz="914400">
              <a:buNone/>
            </a:pPr>
            <a:r>
              <a:rPr lang="en-US" altLang="en-US" sz="2400" b="1" dirty="0">
                <a:ea typeface="Times New Roman" panose="02020603050405020304" pitchFamily="18" charset="0"/>
              </a:rPr>
              <a:t> Tokens: </a:t>
            </a:r>
            <a:r>
              <a:rPr lang="en-US" altLang="en-US" sz="2400" dirty="0">
                <a:ea typeface="Times New Roman" panose="02020603050405020304" pitchFamily="18" charset="0"/>
              </a:rPr>
              <a:t>Tokens are the smallest units of text resulting from the tokenization process</a:t>
            </a:r>
            <a:r>
              <a:rPr lang="en-US" altLang="en-US" sz="2400" dirty="0" smtClean="0">
                <a:ea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Vocabulary:</a:t>
            </a:r>
            <a:r>
              <a:rPr kumimoji="0" lang="en-US" alt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vocabulary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is the set of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unique tokens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(words or phrases) that appear in a corpus or document.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8240" y="833121"/>
            <a:ext cx="650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2800" b="1" dirty="0">
                <a:ea typeface="Times New Roman" panose="02020603050405020304" pitchFamily="18" charset="0"/>
              </a:rPr>
              <a:t>Key Concepts Supporting </a:t>
            </a:r>
            <a:r>
              <a:rPr lang="en-US" altLang="en-US" sz="2800" b="1" dirty="0" smtClean="0">
                <a:ea typeface="Times New Roman" panose="02020603050405020304" pitchFamily="18" charset="0"/>
              </a:rPr>
              <a:t>NLP</a:t>
            </a:r>
            <a:endParaRPr lang="en-US" altLang="en-US" sz="2800" b="1" dirty="0">
              <a:ea typeface="Times New Roman" panose="02020603050405020304" pitchFamily="18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3153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930640" cy="51155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dirty="0" smtClean="0"/>
              <a:t>Tokenization </a:t>
            </a:r>
            <a:r>
              <a:rPr lang="en-IN" dirty="0"/>
              <a:t>is the process of breaking down a larger piece of text into smaller units called </a:t>
            </a:r>
            <a:r>
              <a:rPr lang="en-IN" b="1" dirty="0"/>
              <a:t>tokens</a:t>
            </a:r>
            <a:r>
              <a:rPr lang="en-IN" dirty="0"/>
              <a:t>. </a:t>
            </a:r>
            <a:endParaRPr lang="en-IN" dirty="0" smtClean="0"/>
          </a:p>
          <a:p>
            <a:pPr marL="0" lvl="0" indent="0">
              <a:buNone/>
            </a:pPr>
            <a:r>
              <a:rPr lang="en-IN" b="1" dirty="0" smtClean="0"/>
              <a:t>Why </a:t>
            </a:r>
            <a:r>
              <a:rPr lang="en-IN" b="1" dirty="0"/>
              <a:t>Tokenization Matters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Tokenization is the </a:t>
            </a:r>
            <a:r>
              <a:rPr lang="en-IN" b="1" dirty="0"/>
              <a:t>first step</a:t>
            </a:r>
            <a:r>
              <a:rPr lang="en-IN" dirty="0"/>
              <a:t> in most NLP </a:t>
            </a:r>
            <a:r>
              <a:rPr lang="en-IN" dirty="0" smtClean="0"/>
              <a:t>tasks It transforms </a:t>
            </a:r>
            <a:r>
              <a:rPr lang="en-IN" dirty="0"/>
              <a:t>raw text into a structured format that machines can process.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85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2880" y="1666914"/>
            <a:ext cx="885952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 Tokenization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"I love NLP."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["I", "love", "NLP"]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 Tokenization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"I love NLP. It is fascinating."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["I love NLP.", "It is fascinating."]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Splitting words into smaller units.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in languages with complex morphology or for handling unknown words.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"playing"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["play", 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"]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 Tokenization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Splitting text into individual characters.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"NLP"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["N", "L", "P"]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32080"/>
            <a:ext cx="72847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en-US" sz="3200" b="1" dirty="0">
                <a:latin typeface="Arial" panose="020B0604020202020204" pitchFamily="34" charset="0"/>
              </a:rPr>
              <a:t>Types of Tokenization</a:t>
            </a:r>
            <a:r>
              <a:rPr lang="en-US" altLang="en-US" sz="800" b="1" dirty="0">
                <a:latin typeface="Arial" panose="020B0604020202020204" pitchFamily="34" charset="0"/>
              </a:rPr>
              <a:t>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12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49920" cy="934402"/>
          </a:xfrm>
        </p:spPr>
        <p:txBody>
          <a:bodyPr>
            <a:normAutofit/>
          </a:bodyPr>
          <a:lstStyle/>
          <a:p>
            <a:pPr lvl="0"/>
            <a:r>
              <a:rPr lang="en-US" altLang="en-US" sz="2800" b="1" dirty="0">
                <a:latin typeface="Arial" panose="020B0604020202020204" pitchFamily="34" charset="0"/>
              </a:rPr>
              <a:t>Steps in </a:t>
            </a:r>
            <a:r>
              <a:rPr lang="en-US" altLang="en-US" sz="2800" b="1" dirty="0" smtClean="0">
                <a:latin typeface="Arial" panose="020B0604020202020204" pitchFamily="34" charset="0"/>
              </a:rPr>
              <a:t>Tokenization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65760" y="1432550"/>
            <a:ext cx="8503919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corpus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document to tokenize.</a:t>
            </a:r>
            <a:b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"The quick brown fox jumps over the lazy dog."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of tokenization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Sentence-level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Word-level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by spaces for words.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by punctuation for sentences.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special characters or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word tokenization: ["The", "quick", "brown", "fox", "jumps", "over", "the", "lazy", "dog"]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00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" y="284480"/>
            <a:ext cx="8585200" cy="599440"/>
          </a:xfrm>
        </p:spPr>
        <p:txBody>
          <a:bodyPr>
            <a:normAutofit fontScale="90000"/>
          </a:bodyPr>
          <a:lstStyle/>
          <a:p>
            <a:r>
              <a:rPr lang="en-US" dirty="0"/>
              <a:t>Stemming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6640"/>
            <a:ext cx="9144000" cy="54356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Stemming </a:t>
            </a:r>
            <a:r>
              <a:rPr lang="en-US" dirty="0"/>
              <a:t>is a process of reducing a word to its base or root form. The root form may not always be a linguistically valid word. It relies on simple rules or algorithms, often removing suffixes or prefixes without considering the word's meaning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How </a:t>
            </a:r>
            <a:r>
              <a:rPr lang="en-US" dirty="0"/>
              <a:t>it Works: Stemming uses a heuristic process (rule-based stripping of prefixes or suffixes) to cut off derivational and inflectional endings of words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Purpose</a:t>
            </a:r>
            <a:r>
              <a:rPr lang="en-US" dirty="0"/>
              <a:t>: To group similar words with the same base meaning together for text </a:t>
            </a:r>
            <a:r>
              <a:rPr lang="en-US" dirty="0" smtClean="0"/>
              <a:t>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6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028629"/>
            <a:ext cx="7274560" cy="310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1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" y="318"/>
            <a:ext cx="8321040" cy="903922"/>
          </a:xfrm>
        </p:spPr>
        <p:txBody>
          <a:bodyPr>
            <a:normAutofit/>
          </a:bodyPr>
          <a:lstStyle/>
          <a:p>
            <a:r>
              <a:rPr lang="en-IN" dirty="0"/>
              <a:t>Common Algorithms</a:t>
            </a:r>
            <a:r>
              <a:rPr lang="en-IN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160" y="822960"/>
            <a:ext cx="8707120" cy="54660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Porter </a:t>
            </a:r>
            <a:r>
              <a:rPr lang="en-IN" dirty="0"/>
              <a:t>Stemmer: Widely used and based on a set of rules to strip word endings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Snowball </a:t>
            </a:r>
            <a:r>
              <a:rPr lang="en-IN" dirty="0"/>
              <a:t>Stemmer: A refined version of Porter Stemmer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Pros: Fast </a:t>
            </a:r>
            <a:r>
              <a:rPr lang="en-IN" dirty="0"/>
              <a:t>and computationally efficient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Works </a:t>
            </a:r>
            <a:r>
              <a:rPr lang="en-IN" dirty="0"/>
              <a:t>well when the context or linguistically valid root isn't a priority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r>
              <a:rPr lang="en-IN" dirty="0" smtClean="0"/>
              <a:t>Cons: Produces </a:t>
            </a:r>
            <a:r>
              <a:rPr lang="en-IN" dirty="0"/>
              <a:t>non-linguistic root words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(</a:t>
            </a:r>
            <a:r>
              <a:rPr lang="en-IN" dirty="0"/>
              <a:t>e.g., "studying" → "</a:t>
            </a:r>
            <a:r>
              <a:rPr lang="en-IN" dirty="0" err="1"/>
              <a:t>studi</a:t>
            </a:r>
            <a:r>
              <a:rPr lang="en-IN" dirty="0" smtClean="0"/>
              <a:t>").</a:t>
            </a:r>
          </a:p>
          <a:p>
            <a:pPr marL="0" indent="0">
              <a:buNone/>
            </a:pPr>
            <a:r>
              <a:rPr lang="en-IN" dirty="0" smtClean="0"/>
              <a:t>Can </a:t>
            </a:r>
            <a:r>
              <a:rPr lang="en-IN" dirty="0"/>
              <a:t>lead to over-stemming or under-stemming, where the root form doesn't preserve the original word's meaning.</a:t>
            </a:r>
          </a:p>
        </p:txBody>
      </p:sp>
    </p:spTree>
    <p:extLst>
      <p:ext uri="{BB962C8B-B14F-4D97-AF65-F5344CB8AC3E}">
        <p14:creationId xmlns:p14="http://schemas.microsoft.com/office/powerpoint/2010/main" val="142157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Lemmatization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183640"/>
            <a:ext cx="8818880" cy="5278120"/>
          </a:xfrm>
        </p:spPr>
        <p:txBody>
          <a:bodyPr>
            <a:normAutofit/>
          </a:bodyPr>
          <a:lstStyle/>
          <a:p>
            <a:r>
              <a:rPr lang="en-US" dirty="0" smtClean="0"/>
              <a:t>Lemmatization </a:t>
            </a:r>
            <a:r>
              <a:rPr lang="en-US" dirty="0"/>
              <a:t>reduces a word to its dictionary form, called a </a:t>
            </a:r>
            <a:r>
              <a:rPr lang="en-US" b="1" dirty="0"/>
              <a:t>lemma</a:t>
            </a:r>
            <a:r>
              <a:rPr lang="en-US" dirty="0"/>
              <a:t>, while considering its meaning and context. Lemmatization is more sophisticated than stemming and uses vocabulary and morphological analysis.</a:t>
            </a:r>
          </a:p>
          <a:p>
            <a:r>
              <a:rPr lang="en-US" b="1" dirty="0"/>
              <a:t>How it Works</a:t>
            </a:r>
            <a:r>
              <a:rPr lang="en-US" dirty="0"/>
              <a:t>: Lemmatization uses a </a:t>
            </a:r>
            <a:r>
              <a:rPr lang="en-US" b="1" dirty="0"/>
              <a:t>part-of-speech (POS) tag</a:t>
            </a:r>
            <a:r>
              <a:rPr lang="en-US" dirty="0"/>
              <a:t> to understand the context of a word and return the linguistically correct lemma.</a:t>
            </a:r>
          </a:p>
          <a:p>
            <a:r>
              <a:rPr lang="en-US" b="1" dirty="0"/>
              <a:t>Purpose</a:t>
            </a:r>
            <a:r>
              <a:rPr lang="en-US" dirty="0"/>
              <a:t>: To ensure that words are normalized in a way that retains their meaning.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91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6049" y="2901022"/>
            <a:ext cx="5391902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1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Lemmatization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240" y="1524000"/>
            <a:ext cx="8879840" cy="4693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Pros:</a:t>
            </a:r>
          </a:p>
          <a:p>
            <a:r>
              <a:rPr lang="en-US" dirty="0"/>
              <a:t>Produces linguistically valid words.</a:t>
            </a:r>
          </a:p>
          <a:p>
            <a:pPr marL="0" indent="0">
              <a:buNone/>
            </a:pPr>
            <a:r>
              <a:rPr lang="en-US" b="1" dirty="0" smtClean="0"/>
              <a:t>Cons</a:t>
            </a:r>
            <a:r>
              <a:rPr lang="en-US" b="1" dirty="0"/>
              <a:t>:</a:t>
            </a:r>
          </a:p>
          <a:p>
            <a:r>
              <a:rPr lang="en-US" dirty="0"/>
              <a:t>Computationally more expensive than stemming.</a:t>
            </a:r>
          </a:p>
          <a:p>
            <a:r>
              <a:rPr lang="en-US" dirty="0"/>
              <a:t>Requires additional information like part-of-speech tags for better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0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945831"/>
              </p:ext>
            </p:extLst>
          </p:nvPr>
        </p:nvGraphicFramePr>
        <p:xfrm>
          <a:off x="121921" y="416562"/>
          <a:ext cx="8879838" cy="6441437"/>
        </p:xfrm>
        <a:graphic>
          <a:graphicData uri="http://schemas.openxmlformats.org/drawingml/2006/table">
            <a:tbl>
              <a:tblPr/>
              <a:tblGrid>
                <a:gridCol w="2959946">
                  <a:extLst>
                    <a:ext uri="{9D8B030D-6E8A-4147-A177-3AD203B41FA5}">
                      <a16:colId xmlns:a16="http://schemas.microsoft.com/office/drawing/2014/main" val="3932642334"/>
                    </a:ext>
                  </a:extLst>
                </a:gridCol>
                <a:gridCol w="2959946">
                  <a:extLst>
                    <a:ext uri="{9D8B030D-6E8A-4147-A177-3AD203B41FA5}">
                      <a16:colId xmlns:a16="http://schemas.microsoft.com/office/drawing/2014/main" val="2737074754"/>
                    </a:ext>
                  </a:extLst>
                </a:gridCol>
                <a:gridCol w="2959946">
                  <a:extLst>
                    <a:ext uri="{9D8B030D-6E8A-4147-A177-3AD203B41FA5}">
                      <a16:colId xmlns:a16="http://schemas.microsoft.com/office/drawing/2014/main" val="2708446757"/>
                    </a:ext>
                  </a:extLst>
                </a:gridCol>
              </a:tblGrid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Tag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Meaning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Example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464250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 dirty="0"/>
                        <a:t>NN</a:t>
                      </a:r>
                      <a:endParaRPr lang="en-IN" sz="1800" dirty="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Noun (Singular)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dog, car, tree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512497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NNS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Noun (Plural)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dogs, cars, trees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750499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 dirty="0"/>
                        <a:t>NNP</a:t>
                      </a:r>
                      <a:endParaRPr lang="en-IN" sz="1800" dirty="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Proper Noun (Singular)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India, John, Tesla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073268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NNPS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Proper Noun (Plural)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Americans, Germans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208992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 dirty="0"/>
                        <a:t>PRP</a:t>
                      </a:r>
                      <a:endParaRPr lang="en-IN" sz="1800" dirty="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Personal Pronoun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he, she, they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763877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VB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Verb (Base)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run, eat, jump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1278770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VBD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Verb (Past)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ran, ate, jumped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942638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 dirty="0"/>
                        <a:t>VBG</a:t>
                      </a:r>
                      <a:endParaRPr lang="en-IN" sz="1800" dirty="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Verb (Gerund)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running, eating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564466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VBN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Verb (Past Participle)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eaten, given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870064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VBZ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Verb (3rd person singular)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runs, eats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927730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JJ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Adjective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quick, lazy, beautiful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182568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JJR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Adjective (Comparative)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quicker, better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870356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JJS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Adjective (Superlative)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quickest, best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4686722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RB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Adverb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quickly, silently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532775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IN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Preposition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in, on, over, with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71796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DT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Determiner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the, a, an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769295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CD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Cardinal Number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one, two, 100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526850"/>
                  </a:ext>
                </a:extLst>
              </a:tr>
              <a:tr h="339023">
                <a:tc>
                  <a:txBody>
                    <a:bodyPr/>
                    <a:lstStyle/>
                    <a:p>
                      <a:r>
                        <a:rPr lang="en-IN" sz="1800" b="1"/>
                        <a:t>CC</a:t>
                      </a:r>
                      <a:endParaRPr lang="en-IN" sz="1800"/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Coordinating Conjunction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and, but, or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701425"/>
                  </a:ext>
                </a:extLst>
              </a:tr>
            </a:tbl>
          </a:graphicData>
        </a:graphic>
      </p:graphicFrame>
      <p:sp>
        <p:nvSpPr>
          <p:cNvPr id="43" name="Rectangle 1"/>
          <p:cNvSpPr>
            <a:spLocks noChangeArrowheads="1"/>
          </p:cNvSpPr>
          <p:nvPr/>
        </p:nvSpPr>
        <p:spPr bwMode="auto">
          <a:xfrm>
            <a:off x="0" y="11284"/>
            <a:ext cx="856488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POS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411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549570"/>
              </p:ext>
            </p:extLst>
          </p:nvPr>
        </p:nvGraphicFramePr>
        <p:xfrm>
          <a:off x="108585" y="541004"/>
          <a:ext cx="8476614" cy="6316996"/>
        </p:xfrm>
        <a:graphic>
          <a:graphicData uri="http://schemas.openxmlformats.org/drawingml/2006/table">
            <a:tbl>
              <a:tblPr/>
              <a:tblGrid>
                <a:gridCol w="2825538">
                  <a:extLst>
                    <a:ext uri="{9D8B030D-6E8A-4147-A177-3AD203B41FA5}">
                      <a16:colId xmlns:a16="http://schemas.microsoft.com/office/drawing/2014/main" val="445758106"/>
                    </a:ext>
                  </a:extLst>
                </a:gridCol>
                <a:gridCol w="2825538">
                  <a:extLst>
                    <a:ext uri="{9D8B030D-6E8A-4147-A177-3AD203B41FA5}">
                      <a16:colId xmlns:a16="http://schemas.microsoft.com/office/drawing/2014/main" val="3930505080"/>
                    </a:ext>
                  </a:extLst>
                </a:gridCol>
                <a:gridCol w="2825538">
                  <a:extLst>
                    <a:ext uri="{9D8B030D-6E8A-4147-A177-3AD203B41FA5}">
                      <a16:colId xmlns:a16="http://schemas.microsoft.com/office/drawing/2014/main" val="12757520"/>
                    </a:ext>
                  </a:extLst>
                </a:gridCol>
              </a:tblGrid>
              <a:tr h="224477">
                <a:tc>
                  <a:txBody>
                    <a:bodyPr/>
                    <a:lstStyle/>
                    <a:p>
                      <a:r>
                        <a:rPr lang="en-IN" sz="1600" b="1"/>
                        <a:t>NER Tag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Entity Type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Example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606112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 dirty="0"/>
                        <a:t>PERSON</a:t>
                      </a:r>
                      <a:endParaRPr lang="en-IN" sz="1600" dirty="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People (real or fictional)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Barack Obama, Elon Musk, Harry Potter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252035"/>
                  </a:ext>
                </a:extLst>
              </a:tr>
              <a:tr h="224477">
                <a:tc>
                  <a:txBody>
                    <a:bodyPr/>
                    <a:lstStyle/>
                    <a:p>
                      <a:r>
                        <a:rPr lang="en-IN" sz="1600" b="1"/>
                        <a:t>GPE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Geopolitical Entities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India, New York, Germany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284003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/>
                        <a:t>ORG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Organizations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Google, United Nations, Tesla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095773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/>
                        <a:t>DATE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Dates &amp; time periods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January 1, 2024, 1990s, Monday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083689"/>
                  </a:ext>
                </a:extLst>
              </a:tr>
              <a:tr h="224477">
                <a:tc>
                  <a:txBody>
                    <a:bodyPr/>
                    <a:lstStyle/>
                    <a:p>
                      <a:r>
                        <a:rPr lang="en-IN" sz="1600" b="1"/>
                        <a:t>TIME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Specific time expressions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5:30 PM, midnight, noon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061836"/>
                  </a:ext>
                </a:extLst>
              </a:tr>
              <a:tr h="224477">
                <a:tc>
                  <a:txBody>
                    <a:bodyPr/>
                    <a:lstStyle/>
                    <a:p>
                      <a:r>
                        <a:rPr lang="en-IN" sz="1600" b="1"/>
                        <a:t>MONEY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Monetary values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$10 million, 500 euros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66015"/>
                  </a:ext>
                </a:extLst>
              </a:tr>
              <a:tr h="224477">
                <a:tc>
                  <a:txBody>
                    <a:bodyPr/>
                    <a:lstStyle/>
                    <a:p>
                      <a:r>
                        <a:rPr lang="en-IN" sz="1600" b="1"/>
                        <a:t>QUANTITY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Measurement values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5kg, 10 liters, 100 miles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423964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/>
                        <a:t>LOC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Non-GPE locations (mountains, rivers, etc.)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Mount Everest, Amazon River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514476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/>
                        <a:t>PRODUCT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Products or objects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iPhone, Tesla Model S, MacBook Pro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705821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/>
                        <a:t>EVENT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Named events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World War II, Olympics 2024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862568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/>
                        <a:t>FAC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Buildings, highways, bridges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Eiffel Tower, Golden Gate Bridge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649893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/>
                        <a:t>NORP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Nationalities, religious, political groups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American, Hindu, Communist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62235"/>
                  </a:ext>
                </a:extLst>
              </a:tr>
              <a:tr h="393721">
                <a:tc>
                  <a:txBody>
                    <a:bodyPr/>
                    <a:lstStyle/>
                    <a:p>
                      <a:r>
                        <a:rPr lang="en-IN" sz="1600" b="1"/>
                        <a:t>WORK OF ART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Books, movies, songs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Inception, The Catcher in the Rye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643243"/>
                  </a:ext>
                </a:extLst>
              </a:tr>
              <a:tr h="224477">
                <a:tc>
                  <a:txBody>
                    <a:bodyPr/>
                    <a:lstStyle/>
                    <a:p>
                      <a:r>
                        <a:rPr lang="en-IN" sz="1600" b="1"/>
                        <a:t>LAW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Legal documents, treaties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The Constitution, GDPR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571783"/>
                  </a:ext>
                </a:extLst>
              </a:tr>
              <a:tr h="224477">
                <a:tc>
                  <a:txBody>
                    <a:bodyPr/>
                    <a:lstStyle/>
                    <a:p>
                      <a:r>
                        <a:rPr lang="en-IN" sz="1600" b="1"/>
                        <a:t>PERCENT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Percentages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50%, 10% increase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1840778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8585" y="-26150"/>
            <a:ext cx="247394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NER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00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NLP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NLTK:</a:t>
            </a:r>
          </a:p>
          <a:p>
            <a:r>
              <a:t> - Comprehensive text processing library.</a:t>
            </a:r>
          </a:p>
          <a:p>
            <a:r>
              <a:t>spaCy:</a:t>
            </a:r>
          </a:p>
          <a:p>
            <a:r>
              <a:t> - Industrial-strength NLP library.</a:t>
            </a:r>
          </a:p>
          <a:p>
            <a:r>
              <a:t>TextBlob:</a:t>
            </a:r>
          </a:p>
          <a:p>
            <a:r>
              <a:t> - Simple library for text analysis.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NLP </a:t>
            </a:r>
            <a:r>
              <a:rPr lang="en-US" b="1" dirty="0" smtClean="0"/>
              <a:t>Tasks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Building </a:t>
            </a:r>
            <a:r>
              <a:rPr lang="en-US" b="1" dirty="0"/>
              <a:t>a Vocabulary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Tokenization is used to generate the vocabulary, which consists of unique tokens from the corpus.</a:t>
            </a:r>
          </a:p>
          <a:p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Bag of Words (</a:t>
            </a:r>
            <a:r>
              <a:rPr lang="en-US" b="1" dirty="0" err="1"/>
              <a:t>BoW</a:t>
            </a:r>
            <a:r>
              <a:rPr lang="en-US" b="1" dirty="0"/>
              <a:t>)</a:t>
            </a:r>
            <a:r>
              <a:rPr lang="en-US" dirty="0"/>
              <a:t>: Represent text based on token counts.</a:t>
            </a:r>
          </a:p>
          <a:p>
            <a:pPr lvl="1"/>
            <a:r>
              <a:rPr lang="en-US" b="1" dirty="0"/>
              <a:t>TF-IDF</a:t>
            </a:r>
            <a:r>
              <a:rPr lang="en-US" dirty="0"/>
              <a:t>: Use token frequency to measure importance.</a:t>
            </a:r>
          </a:p>
          <a:p>
            <a:pPr lvl="1"/>
            <a:r>
              <a:rPr lang="en-US" b="1" dirty="0"/>
              <a:t>Word </a:t>
            </a:r>
            <a:r>
              <a:rPr lang="en-US" b="1" dirty="0" err="1"/>
              <a:t>Embeddings</a:t>
            </a:r>
            <a:r>
              <a:rPr lang="en-US" dirty="0"/>
              <a:t>: Learn vector representations of tokens for downstream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56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91" y="1476274"/>
            <a:ext cx="8128418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45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60" y="197907"/>
            <a:ext cx="4153480" cy="3048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60" y="3246332"/>
            <a:ext cx="7678222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0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21" y="2938394"/>
            <a:ext cx="7039957" cy="9812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00" y="393675"/>
            <a:ext cx="7944959" cy="25447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133600"/>
            <a:ext cx="1052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THE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1280" y="3139440"/>
            <a:ext cx="87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Food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908" y="3826559"/>
            <a:ext cx="4763892" cy="291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3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0" y="138130"/>
            <a:ext cx="4534320" cy="32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0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06400"/>
            <a:ext cx="89611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/>
              <a:t>High Dimensionality</a:t>
            </a:r>
            <a:r>
              <a:rPr lang="en-US" sz="2400" dirty="0"/>
              <a:t>:</a:t>
            </a:r>
          </a:p>
          <a:p>
            <a:pPr lvl="1"/>
            <a:r>
              <a:rPr lang="en-US" sz="2400" dirty="0"/>
              <a:t>One-hot encoding creates a new dimension for each unique category in the dataset. For datasets with many unique categories, this can lead to a very large feature space, making computations inefficient and increasing memory usage.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Sparsity</a:t>
            </a:r>
            <a:r>
              <a:rPr lang="en-US" sz="2400" dirty="0"/>
              <a:t>:</a:t>
            </a:r>
          </a:p>
          <a:p>
            <a:pPr lvl="1"/>
            <a:r>
              <a:rPr lang="en-US" sz="2400" dirty="0"/>
              <a:t>The resulting vectors are sparse, with most values being zero. Sparse matrices require more storage and computational resources, especially when dealing with high-dimensional data.</a:t>
            </a:r>
          </a:p>
          <a:p>
            <a:pPr>
              <a:buFont typeface="+mj-lt"/>
              <a:buAutoNum type="arabicPeriod"/>
            </a:pPr>
            <a:r>
              <a:rPr lang="en-US" sz="2400" b="1" dirty="0" smtClean="0"/>
              <a:t>Loss </a:t>
            </a:r>
            <a:r>
              <a:rPr lang="en-US" sz="2400" b="1" dirty="0"/>
              <a:t>of Semantic Information</a:t>
            </a:r>
            <a:r>
              <a:rPr lang="en-US" sz="2400" dirty="0"/>
              <a:t>:</a:t>
            </a:r>
          </a:p>
          <a:p>
            <a:pPr lvl="1"/>
            <a:r>
              <a:rPr lang="en-US" sz="2400" dirty="0"/>
              <a:t>One-hot encoding does not capture semantic similarity between categories. For example, "cat" and "dog" are encoded as completely independent entities, even though they might have a closer relationship compared to "cat" and "car."</a:t>
            </a:r>
          </a:p>
        </p:txBody>
      </p:sp>
    </p:spTree>
    <p:extLst>
      <p:ext uri="{BB962C8B-B14F-4D97-AF65-F5344CB8AC3E}">
        <p14:creationId xmlns:p14="http://schemas.microsoft.com/office/powerpoint/2010/main" val="126660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00" y="307417"/>
            <a:ext cx="3429479" cy="34390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9" y="3746422"/>
            <a:ext cx="7292941" cy="2783258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4754880" y="6116320"/>
            <a:ext cx="782320" cy="1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61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39" y="146103"/>
            <a:ext cx="3360345" cy="27393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20" y="3051090"/>
            <a:ext cx="6197919" cy="32958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512" y="1410941"/>
            <a:ext cx="3515216" cy="4191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5512" y="601943"/>
            <a:ext cx="3515216" cy="56893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5512" y="1981802"/>
            <a:ext cx="3525304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2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05" y="413602"/>
            <a:ext cx="2543530" cy="14384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135" y="334350"/>
            <a:ext cx="4064209" cy="15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8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33915" y="1746282"/>
            <a:ext cx="837845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of Context and Order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ignores the sequence of words, losing important contextual and syntactic information. For instance, "I love dogs" and "Dogs love me" would have the same representation, despite having different meanings.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Dimensionality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large vocabularies,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a feature vector with as many dimensions as the number of unique words in the corpus, which can lead to scalability and computational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Sparsity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entries in the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vector are zero, especially for large vocabularies, resulting in sparse vectors that are computationally expensive to process and store.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6753" y="567730"/>
            <a:ext cx="372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BOW Disadvantages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71453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1874"/>
            <a:ext cx="8098565" cy="32008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4" name="Straight Connector 3"/>
          <p:cNvCxnSpPr/>
          <p:nvPr/>
        </p:nvCxnSpPr>
        <p:spPr>
          <a:xfrm>
            <a:off x="6898640" y="3708400"/>
            <a:ext cx="90424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915" y="101600"/>
            <a:ext cx="8946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Term Frequency (TF) and Inverse Document Frequency (IDF)</a:t>
            </a:r>
            <a:endParaRPr lang="en-IN" sz="2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714" y="4337991"/>
            <a:ext cx="3724646" cy="218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6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" y="180237"/>
            <a:ext cx="3441191" cy="2430883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>
            <a:off x="1605280" y="792480"/>
            <a:ext cx="40640" cy="163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550160" y="914400"/>
            <a:ext cx="20320" cy="1513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261360" y="914400"/>
            <a:ext cx="10160" cy="1615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407" y="71120"/>
            <a:ext cx="2592914" cy="2540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072061"/>
            <a:ext cx="5622699" cy="30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9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89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430878"/>
            <a:ext cx="8883396" cy="50004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52320" y="416560"/>
            <a:ext cx="397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Word 2 </a:t>
            </a:r>
            <a:r>
              <a:rPr lang="en-IN" dirty="0" err="1" smtClean="0"/>
              <a:t>vec</a:t>
            </a:r>
            <a:r>
              <a:rPr lang="en-IN" dirty="0" smtClean="0"/>
              <a:t> Expected O/P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76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49" y="4796100"/>
            <a:ext cx="7497221" cy="7811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69" y="1425555"/>
            <a:ext cx="5620039" cy="7556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53" y="2681659"/>
            <a:ext cx="6456368" cy="16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2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8" y="1114102"/>
            <a:ext cx="8827209" cy="3264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72640" y="2265680"/>
            <a:ext cx="104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2"/>
                </a:solidFill>
              </a:rPr>
              <a:t>King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85440" y="2976880"/>
            <a:ext cx="69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2"/>
                </a:solidFill>
              </a:rPr>
              <a:t>Man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563" y="4639507"/>
            <a:ext cx="2638793" cy="1724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92319" y="5161280"/>
            <a:ext cx="4278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1-0=1 for 90. as cos 90 =0. SO there are not similar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39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77" y="926971"/>
            <a:ext cx="8687246" cy="500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59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87" y="425296"/>
            <a:ext cx="3064089" cy="20943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235" y="2434672"/>
            <a:ext cx="5956491" cy="427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6" y="1060329"/>
            <a:ext cx="8536313" cy="422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3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6545" y="609455"/>
            <a:ext cx="10497089" cy="56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0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7" y="822191"/>
            <a:ext cx="9055565" cy="521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6320" y="3413760"/>
            <a:ext cx="19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2"/>
                </a:solidFill>
              </a:rPr>
              <a:t>Output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39360" y="3454400"/>
            <a:ext cx="19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2"/>
                </a:solidFill>
              </a:rPr>
              <a:t>Input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7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7" y="1174634"/>
            <a:ext cx="9114232" cy="416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4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7431</TotalTime>
  <Words>1324</Words>
  <Application>Microsoft Office PowerPoint</Application>
  <PresentationFormat>On-screen Show (4:3)</PresentationFormat>
  <Paragraphs>220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Unicode MS</vt:lpstr>
      <vt:lpstr>Calibri</vt:lpstr>
      <vt:lpstr>Courier New</vt:lpstr>
      <vt:lpstr>Times New Roman</vt:lpstr>
      <vt:lpstr>Office Theme</vt:lpstr>
      <vt:lpstr>Foundational Topics in Natural Language Processing (NLP)</vt:lpstr>
      <vt:lpstr>Introduction to NLP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Tokenization</vt:lpstr>
      <vt:lpstr>PowerPoint Presentation</vt:lpstr>
      <vt:lpstr>Steps in Tokenization</vt:lpstr>
      <vt:lpstr>Stemming</vt:lpstr>
      <vt:lpstr>Example</vt:lpstr>
      <vt:lpstr>Common Algorithms:</vt:lpstr>
      <vt:lpstr>Lemmatization</vt:lpstr>
      <vt:lpstr>Example</vt:lpstr>
      <vt:lpstr>Lemmatization</vt:lpstr>
      <vt:lpstr>PowerPoint Presentation</vt:lpstr>
      <vt:lpstr>PowerPoint Presentation</vt:lpstr>
      <vt:lpstr>Basic NLP Libraries</vt:lpstr>
      <vt:lpstr>NLP Tasks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Foundational Topics in Natural Language Processing (NLP)</dc:title>
  <dc:subject/>
  <dc:creator>Murthy</dc:creator>
  <cp:keywords/>
  <dc:description>generated using python-pptx</dc:description>
  <cp:lastModifiedBy>Murthy</cp:lastModifiedBy>
  <cp:revision>35</cp:revision>
  <dcterms:created xsi:type="dcterms:W3CDTF">2013-01-27T09:14:16Z</dcterms:created>
  <dcterms:modified xsi:type="dcterms:W3CDTF">2025-03-15T14:57:49Z</dcterms:modified>
  <cp:category/>
</cp:coreProperties>
</file>